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2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2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7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7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Relationship Id="rId1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9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5" Type="http://schemas.openxmlformats.org/officeDocument/2006/relationships/image" Target="../media/image5.jpg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Relationship Id="rId1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12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11" Type="http://schemas.openxmlformats.org/officeDocument/2006/relationships/image" Target="../media/image3.png"/><Relationship Id="rId5" Type="http://schemas.openxmlformats.org/officeDocument/2006/relationships/slide" Target="slide3.xml"/><Relationship Id="rId10" Type="http://schemas.openxmlformats.org/officeDocument/2006/relationships/slide" Target="slide10.xml"/><Relationship Id="rId4" Type="http://schemas.openxmlformats.org/officeDocument/2006/relationships/slide" Target="slide1.xml"/><Relationship Id="rId9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National AI Compliance Portal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1 of 11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3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 dirty="0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69494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1234440"/>
            <a:ext cx="62179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1280160"/>
            <a:ext cx="868680" cy="475488"/>
          </a:xfrm>
          <a:prstGeom prst="rect">
            <a:avLst/>
          </a:prstGeom>
        </p:spPr>
      </p:pic>
      <p:pic>
        <p:nvPicPr>
          <p:cNvPr id="25" name="Picture 2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4519" y="1280160"/>
            <a:ext cx="868680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834640" y="129844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SMART INDIA HACKATHON 2026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Problem ID: SIH26034 • Ministry of Consumer Affairs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96596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Scan. Verify. Comply.
</a:t>
            </a:r>
            <a:r>
              <a:rPr sz="1500" b="1">
                <a:solidFill>
                  <a:srgbClr val="4F46E5"/>
                </a:solidFill>
                <a:latin typeface="Segoe UI"/>
              </a:rPr>
              <a:t>AI-Powered Product Label Compliance &amp; Consumer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06324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Empowering Indian citizens and regulatory enforcement officers with sub-second OCR extraction and deterministic regulatory validation against Legal Metrology Rules 2011 and FSSAI 2020 frameworks.</a:t>
            </a:r>
          </a:p>
        </p:txBody>
      </p:sp>
      <p:sp>
        <p:nvSpPr>
          <p:cNvPr id="29" name="Rounded Rectangle 28">
            <a:hlinkClick r:id="rId6" action="ppaction://hlinksldjump"/>
          </p:cNvPr>
          <p:cNvSpPr/>
          <p:nvPr/>
        </p:nvSpPr>
        <p:spPr>
          <a:xfrm>
            <a:off x="822960" y="4160520"/>
            <a:ext cx="1920240" cy="5029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🚀 Start Live Demo</a:t>
            </a:r>
          </a:p>
        </p:txBody>
      </p:sp>
      <p:sp>
        <p:nvSpPr>
          <p:cNvPr id="30" name="Rounded Rectangle 29">
            <a:hlinkClick r:id="rId5" action="ppaction://hlinksldjump"/>
          </p:cNvPr>
          <p:cNvSpPr/>
          <p:nvPr/>
        </p:nvSpPr>
        <p:spPr>
          <a:xfrm>
            <a:off x="2880360" y="41605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4F46E5"/>
                </a:solidFill>
                <a:latin typeface="Segoe UI"/>
              </a:rPr>
              <a:t>📖 Explore Solution</a:t>
            </a:r>
          </a:p>
        </p:txBody>
      </p:sp>
      <p:sp>
        <p:nvSpPr>
          <p:cNvPr id="31" name="Rounded Rectangle 30">
            <a:hlinkClick r:id="rId7" action="ppaction://hlinksldjump"/>
          </p:cNvPr>
          <p:cNvSpPr/>
          <p:nvPr/>
        </p:nvSpPr>
        <p:spPr>
          <a:xfrm>
            <a:off x="4937760" y="4160520"/>
            <a:ext cx="1920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0F172A"/>
                </a:solidFill>
                <a:latin typeface="Segoe UI"/>
              </a:rPr>
              <a:t>🏛️ View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22+ Rules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Legal Metrology &amp; FSSAI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03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718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100%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Logic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892040"/>
            <a:ext cx="192024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0" y="4956048"/>
            <a:ext cx="1737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46E5"/>
                </a:solidFill>
                <a:latin typeface="Segoe UI"/>
              </a:rPr>
              <a:t>&lt; 3 Sec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Dual OCR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1051560"/>
            <a:ext cx="4144975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63840" y="1325880"/>
            <a:ext cx="3596335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46720" y="1463040"/>
            <a:ext cx="3200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Consolas"/>
              </a:rPr>
              <a:t>🎯 [AR FORENSIC INSPECTION HUD]
</a:t>
            </a:r>
            <a:r>
              <a:rPr sz="850">
                <a:solidFill>
                  <a:srgbClr val="E2E8F0"/>
                </a:solidFill>
                <a:latin typeface="Consolas"/>
              </a:rPr>
              <a:t>• Target: Packaged Food Commodity
• OCR Bounding Boxes: 6 Detected
• MRP &amp; Net Qty: Isolated ✓
• FSSAI Lic Number: Verified ✓
• Expiry / Mfg Date: Flagged ⚠️
Live Reticle Coordinates: X: 420, Y: 680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4526280"/>
            <a:ext cx="3596335" cy="1325880"/>
          </a:xfrm>
          <a:prstGeom prst="roundRect">
            <a:avLst/>
          </a:prstGeom>
          <a:solidFill>
            <a:srgbClr val="18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46720" y="461772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Statutory Score: 82% (High Compliance)
</a:t>
            </a:r>
            <a:r>
              <a:rPr sz="850">
                <a:solidFill>
                  <a:srgbClr val="CBD5E1"/>
                </a:solidFill>
                <a:latin typeface="Segoe UI"/>
              </a:rPr>
              <a:t>Evaluation: Passed 12 of 14 mandatory labelling checks. Minor manufacturing date ambiguity flagged for inspection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Problem Context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2 of 11</a:t>
            </a:r>
          </a:p>
        </p:txBody>
      </p:sp>
      <p:sp>
        <p:nvSpPr>
          <p:cNvPr id="20" name="Rounded Rectangle 19">
            <a:hlinkClick r:id="rId4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5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11277295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111556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F4444"/>
                </a:solidFill>
                <a:latin typeface="Segoe UI"/>
              </a:rPr>
              <a:t>⚠️ THE PROBLEM: Why Packaged Product Label Verification Fails at Scale
</a:t>
            </a:r>
            <a:r>
              <a:rPr sz="1050">
                <a:solidFill>
                  <a:srgbClr val="64748B"/>
                </a:solidFill>
                <a:latin typeface="Segoe UI"/>
              </a:rPr>
              <a:t>Millions of consumer commodities hit retail shelves daily with missing, deceptive, or non-compliant statutory declarations.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65960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57200" y="1965960"/>
            <a:ext cx="109728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59E0B"/>
                </a:solidFill>
                <a:latin typeface="Segoe UI"/>
              </a:rPr>
              <a:t>1. Consumer Information Asymmetry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Everyday citizens cannot decipher complex statutory codes, E-numbers, font height minimums, or mandatory declaration positions required under Legal Metrology Rules.
</a:t>
            </a:r>
          </a:p>
          <a:p>
            <a:r>
              <a:rPr sz="900" b="1">
                <a:solidFill>
                  <a:srgbClr val="F59E0B"/>
                </a:solidFill>
                <a:latin typeface="Segoe UI"/>
              </a:rPr>
              <a:t>❌ 85%+ consumers cannot detect missing declarations manually.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965960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1965960"/>
            <a:ext cx="109728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1031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F4444"/>
                </a:solidFill>
                <a:latin typeface="Segoe UI"/>
              </a:rPr>
              <a:t>2. Enforcement Inspection Bottleneck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Manual retail inspections by enforcement officers are time-consuming and cover less than 1% of products in circulating markets.
</a:t>
            </a:r>
          </a:p>
          <a:p>
            <a:r>
              <a:rPr sz="900" b="1">
                <a:solidFill>
                  <a:srgbClr val="EF4444"/>
                </a:solidFill>
                <a:latin typeface="Segoe UI"/>
              </a:rPr>
              <a:t>❌ Physical spot-audits cannot scale across 100M+ retail SKUs.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77639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" y="3977639"/>
            <a:ext cx="109728" cy="18288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11479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4F46E5"/>
                </a:solidFill>
                <a:latin typeface="Segoe UI"/>
              </a:rPr>
              <a:t>3. Complex Multi-Agency Regulations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Rules are fragmented across Legal Metrology Act 2009, FSSAI Labelling Regulations 2020, and CDSCO Cosmetic mandates with differing requirements.
</a:t>
            </a:r>
          </a:p>
          <a:p>
            <a:r>
              <a:rPr sz="900" b="1">
                <a:solidFill>
                  <a:srgbClr val="4F46E5"/>
                </a:solidFill>
                <a:latin typeface="Segoe UI"/>
              </a:rPr>
              <a:t>❌ Cross-regulatory confusion leads to rampant non-compliance.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77639"/>
            <a:ext cx="5516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17920" y="3977639"/>
            <a:ext cx="109728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11479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F4444"/>
                </a:solidFill>
                <a:latin typeface="Segoe UI"/>
              </a:rPr>
              <a:t>4. Consumer Safety &amp; Financial Harm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Missing allergen warnings, deceptive net quantities, altered MRPs, and fake 14-digit FSSAI numbers directly compromise public health and consumer trust.
</a:t>
            </a:r>
          </a:p>
          <a:p>
            <a:r>
              <a:rPr sz="900" b="1">
                <a:solidFill>
                  <a:srgbClr val="EF4444"/>
                </a:solidFill>
                <a:latin typeface="Segoe UI"/>
              </a:rPr>
              <a:t>❌ Severe statutory liability under Section 36(1) of LM Act.</a:t>
            </a:r>
          </a:p>
        </p:txBody>
      </p:sp>
      <p:sp>
        <p:nvSpPr>
          <p:cNvPr id="36" name="Rounded Rectangle 35">
            <a:hlinkClick r:id="rId5" action="ppaction://hlinksldjump"/>
          </p:cNvPr>
          <p:cNvSpPr/>
          <p:nvPr/>
        </p:nvSpPr>
        <p:spPr>
          <a:xfrm>
            <a:off x="8961120" y="585216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👉 See Our Solution (CompliScan AI)</a:t>
            </a:r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CB9685C7-6310-8490-A564-859DEBB328F2}"/>
              </a:ext>
            </a:extLst>
          </p:cNvPr>
          <p:cNvSpPr/>
          <p:nvPr/>
        </p:nvSpPr>
        <p:spPr>
          <a:xfrm>
            <a:off x="457200" y="6263641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E17AB9-820F-BAF4-A404-0A048FE7FD12}"/>
              </a:ext>
            </a:extLst>
          </p:cNvPr>
          <p:cNvSpPr txBox="1"/>
          <p:nvPr/>
        </p:nvSpPr>
        <p:spPr>
          <a:xfrm>
            <a:off x="6446520" y="2103121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EF4444"/>
                </a:solidFill>
                <a:latin typeface="Segoe UI"/>
              </a:rPr>
              <a:t>2. Enforcement Inspection Bottleneck
</a:t>
            </a:r>
          </a:p>
          <a:p>
            <a:r>
              <a:rPr sz="950">
                <a:solidFill>
                  <a:srgbClr val="0F172A"/>
                </a:solidFill>
                <a:latin typeface="Segoe UI"/>
              </a:rPr>
              <a:t>Manual retail inspections by enforcement officers are time-consuming and cover less than 1% of products in circulating markets.
</a:t>
            </a:r>
          </a:p>
          <a:p>
            <a:r>
              <a:rPr sz="900" b="1">
                <a:solidFill>
                  <a:srgbClr val="EF4444"/>
                </a:solidFill>
                <a:latin typeface="Segoe UI"/>
              </a:rPr>
              <a:t>❌ Physical spot-audits cannot scale across 100M+ retail SKUs.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Platform Capabilities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3 of 11</a:t>
            </a:r>
          </a:p>
        </p:txBody>
      </p:sp>
      <p:sp>
        <p:nvSpPr>
          <p:cNvPr id="20" name="Rounded Rectangle 19">
            <a:hlinkClick r:id="rId13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6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1115568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b="1">
                <a:solidFill>
                  <a:srgbClr val="4F46E5"/>
                </a:solidFill>
                <a:latin typeface="Segoe UI"/>
              </a:rPr>
              <a:t>THE COMPLISCAN AI SOLUTION: 3-Step Automated Verification Pipeline
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444752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dirty="0">
                <a:solidFill>
                  <a:srgbClr val="0F172A"/>
                </a:solidFill>
                <a:latin typeface="Segoe UI"/>
              </a:rPr>
              <a:t>Step 1: Upload Image
</a:t>
            </a:r>
          </a:p>
          <a:p>
            <a:r>
              <a:rPr sz="850" dirty="0">
                <a:solidFill>
                  <a:srgbClr val="64748B"/>
                </a:solidFill>
                <a:latin typeface="Segoe UI"/>
              </a:rPr>
              <a:t>Capture packaging front, back, or nutrition panel via camera or upload.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444752"/>
            <a:ext cx="33832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Step 2: AI Parsing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Dual-Engine OCR extracts text; Groq LLM normalizes into structured JSON.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444752"/>
            <a:ext cx="338328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80" y="148132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Step 3: Rule Audit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Engine validates against 22+ statutory rules &amp; outputs PDF dossier.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🔍 Dual-Engine OCR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Combines Tesseract &amp; Gemini Vision for Hindi and English label character extraction.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3484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🤖 AI Structuring Assistant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Structures unorganized OCR tokens into normalized JSON key-value pairs without hallucinations.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25146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26517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⚖️ Deterministic Law Engine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100% rule-based deterministic evaluation against Legal Metrology &amp; FSSAI statutory regulations.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📊 0–100% Compliance Score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Clear quantitative metric indicating legal packaging compliance and consumer safety risk.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🚨 Section 36 Penalty Estimator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Automated financial liability calculation for manufacturer non-compliance under LM Act 2009.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4343400"/>
            <a:ext cx="36877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0" y="4480560"/>
            <a:ext cx="33220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59E0B"/>
                </a:solidFill>
                <a:latin typeface="Segoe UI"/>
              </a:rPr>
              <a:t>📑 1-Click Complaint Dispatch
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Automated formal complaint generation and forwarding to National Consumer Helpline 1915.</a:t>
            </a:r>
          </a:p>
        </p:txBody>
      </p:sp>
      <p:sp>
        <p:nvSpPr>
          <p:cNvPr id="42" name="Rounded Rectangle 41">
            <a:hlinkClick r:id="rId6" action="ppaction://hlinksldjump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▶ Try Live Scan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Scanning Interface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4 of 11</a:t>
            </a:r>
          </a:p>
        </p:txBody>
      </p:sp>
      <p:sp>
        <p:nvSpPr>
          <p:cNvPr id="20" name="Rounded Rectangle 19">
            <a:hlinkClick r:id="rId5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7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4572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11430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Segoe UI"/>
              </a:rPr>
              <a:t>📸 Uploaded Label: Packaged Wheat Flour (5kg)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1600200"/>
            <a:ext cx="4023360" cy="36576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1828800"/>
            <a:ext cx="2926080" cy="640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1874519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0B981"/>
                </a:solidFill>
                <a:latin typeface="Consolas"/>
              </a:rPr>
              <a:t>🏷️ BRAND: Annapurna Pure Atta (Rule 6(1)(a) PASS)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606040"/>
            <a:ext cx="182880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2651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0B981"/>
                </a:solidFill>
                <a:latin typeface="Consolas"/>
              </a:rPr>
              <a:t>⚖️ Net Qty: 5 kg
(Rule 6(1)(b) PASS)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2606040"/>
            <a:ext cx="1737360" cy="5486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26517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10B981"/>
                </a:solidFill>
                <a:latin typeface="Consolas"/>
              </a:rPr>
              <a:t>💵 MRP: Rs. 240.00
(Rule 6(1)(e) PASS)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291840"/>
            <a:ext cx="3566160" cy="5943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333756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EF4444"/>
                </a:solidFill>
                <a:latin typeface="Consolas"/>
              </a:rPr>
              <a:t>⚠️ MFG DATE: 'BEST BEFORE 4 MONTHS' (No Date Specified)
Rule 6(1)(d) VIOLATION DETECTED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023360"/>
            <a:ext cx="3566160" cy="59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069080"/>
            <a:ext cx="3474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F59E0B"/>
                </a:solidFill>
                <a:latin typeface="Consolas"/>
              </a:rPr>
              <a:t>🔍 FSSAI LIC: 10019082000142 (14 Digits Detected)
Checksum Check: Valid format • Needs DB sync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94960"/>
            <a:ext cx="40233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🔍 Holographic AR Reticle Active (X: 380, Y: 520)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1051560"/>
            <a:ext cx="652241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394960" y="1234440"/>
            <a:ext cx="6156655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32120" y="1298448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46E5"/>
                </a:solidFill>
                <a:latin typeface="Segoe UI"/>
              </a:rPr>
              <a:t>STAGE 1: Dual-Engine OCR Raw Extraction (Gemini + Tesseract)
</a:t>
            </a:r>
            <a:r>
              <a:rPr sz="850">
                <a:solidFill>
                  <a:srgbClr val="64748B"/>
                </a:solidFill>
                <a:latin typeface="Consolas"/>
              </a:rPr>
              <a:t>RAW TOKENS: [ANNAPURNA PURE ATTA] [NET QTY 5kg] [MRP Rs 240.00 INCL OF ALL TAXES] [PKD 08/26] [BEST BEFORE 4 MONTHS FROM PACKAGING] [FSSAI LIC NO 10019082000142] [MKT BY HIND CONSUMER PVT LTD MUMBAI 400001]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2880360"/>
            <a:ext cx="6156655" cy="1783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32120" y="2944368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STAGE 2: Groq Structured JSON Normalization (No Legal Hallucinations)
</a:t>
            </a:r>
            <a:r>
              <a:rPr sz="800">
                <a:solidFill>
                  <a:srgbClr val="E2E8F0"/>
                </a:solidFill>
                <a:latin typeface="Consolas"/>
              </a:rPr>
              <a:t>{
  "productName": "Annapurna Pure Atta",
  "category": "Food",
  "netQuantity": "5 kg",
  "mrp": "Rs. 240.00",
  "mfgDate": null, // Flagged: Missing specific calendar date
  "fssaiNumber": "10019082000142"
}</a:t>
            </a:r>
          </a:p>
        </p:txBody>
      </p:sp>
      <p:sp>
        <p:nvSpPr>
          <p:cNvPr id="41" name="Rounded Rectangle 40">
            <a:hlinkClick r:id="rId7" action="ppaction://hlinksldjump"/>
          </p:cNvPr>
          <p:cNvSpPr/>
          <p:nvPr/>
        </p:nvSpPr>
        <p:spPr>
          <a:xfrm>
            <a:off x="5394960" y="4892040"/>
            <a:ext cx="6156655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⚖️ Analyze Compliance (Run Deterministic Rule Engine) 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AI vs Law Separation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5 of 11</a:t>
            </a:r>
          </a:p>
        </p:txBody>
      </p:sp>
      <p:sp>
        <p:nvSpPr>
          <p:cNvPr id="20" name="Rounded Rectangle 19">
            <a:hlinkClick r:id="rId6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8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11277295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11155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0B981"/>
                </a:solidFill>
                <a:latin typeface="Segoe UI"/>
              </a:rPr>
              <a:t>CORE ARCHITECTURAL PRINCIPLE: AI Extracts Text • Manually Defined Rule Engine Decides Legality
</a:t>
            </a:r>
            <a:r>
              <a:rPr sz="950">
                <a:solidFill>
                  <a:srgbClr val="64748B"/>
                </a:solidFill>
                <a:latin typeface="Segoe UI"/>
              </a:rPr>
              <a:t>Groq is strictly an NLP extraction accelerator. Final legal compliance is computed 100% deterministically against official Gazette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1. Input Image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Packaging capture / upload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93976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67128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2. Dual OCR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Tesseract &amp; Gemini Vision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30752" y="1920240"/>
            <a:ext cx="1444752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03904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Segoe UI"/>
              </a:rPr>
              <a:t>3. Groq JSON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Normalizes key-value schema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67528" y="1920240"/>
            <a:ext cx="1444752" cy="1371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40680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Segoe UI"/>
              </a:rPr>
              <a:t>4. Category Engine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Maps Food / Oil / Cosmetics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04304" y="1920240"/>
            <a:ext cx="1444752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77456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5. Rule Database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Legal Metrology &amp; FSSAI Acts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1920240"/>
            <a:ext cx="1444752" cy="1371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14232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0B981"/>
                </a:solidFill>
                <a:latin typeface="Segoe UI"/>
              </a:rPr>
              <a:t>6. Deterministic Audit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100% Law-encoded checks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77856" y="1920240"/>
            <a:ext cx="1444752" cy="1371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51008" y="2011680"/>
            <a:ext cx="129844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7. Official Report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Score &amp; Section 36 Dossier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520440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6118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F46E5"/>
                </a:solidFill>
                <a:latin typeface="Segoe UI"/>
              </a:rPr>
              <a:t>🤖 AI Extraction Layer (OCR.Space + Groq Llama-3)
</a:t>
            </a:r>
          </a:p>
          <a:p>
            <a:r>
              <a:rPr sz="900">
                <a:solidFill>
                  <a:srgbClr val="0F172A"/>
                </a:solidFill>
                <a:latin typeface="Segoe UI"/>
              </a:rPr>
              <a:t>• OCR.Space / Gemini Vision: Handles multi-font image text extraction in Hindi &amp; English.
• Groq Fast Inference: Parses noisy OCR lines into standard JSON fields without inventing facts.
• Failover Resilience: Deterministic regex fallback if Groq API hits rate limit (429-immunity).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520440"/>
            <a:ext cx="5440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361188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0B981"/>
                </a:solidFill>
                <a:latin typeface="Segoe UI"/>
              </a:rPr>
              <a:t>⚖️ Deterministic Legal Rule Engine (Official Standards)
</a:t>
            </a:r>
          </a:p>
          <a:p>
            <a:r>
              <a:rPr sz="900">
                <a:solidFill>
                  <a:srgbClr val="0F172A"/>
                </a:solidFill>
                <a:latin typeface="Segoe UI"/>
              </a:rPr>
              <a:t>• Legal Metrology (Packaged Commodities) Rules 2011 (Rule 6(1) a-g declarations).
• FSSAI Labelling &amp; Display Regulations 2020 (Veg/Non-veg logo, 14-digit license, nutrients).
• 100% Objective Scoring: Rules evaluate through strict Boolean and regex formulas.
• Zero Legal Hallucinations: No AI guesswork in statutory penalization.</a:t>
            </a:r>
          </a:p>
        </p:txBody>
      </p:sp>
      <p:sp>
        <p:nvSpPr>
          <p:cNvPr id="42" name="Rounded Rectangle 41">
            <a:hlinkClick r:id="rId8" action="ppaction://hlinksldjump"/>
          </p:cNvPr>
          <p:cNvSpPr/>
          <p:nvPr/>
        </p:nvSpPr>
        <p:spPr>
          <a:xfrm>
            <a:off x="8961120" y="585216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📊 View Compliance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Audit Results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6 of 11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3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3840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1234440"/>
            <a:ext cx="3291840" cy="1463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325880"/>
            <a:ext cx="3108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59E0B"/>
                </a:solidFill>
                <a:latin typeface="Segoe UI"/>
              </a:rPr>
              <a:t>82%
</a:t>
            </a:r>
          </a:p>
          <a:p>
            <a:pPr algn="ctr"/>
            <a:r>
              <a:rPr sz="1050" b="1">
                <a:solidFill>
                  <a:srgbClr val="F59E0B"/>
                </a:solidFill>
                <a:latin typeface="Segoe UI"/>
              </a:rPr>
              <a:t>POTENTIAL NON-COMPLIANCE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880360"/>
            <a:ext cx="160020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29535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0B981"/>
                </a:solidFill>
                <a:latin typeface="Segoe UI"/>
              </a:rPr>
              <a:t>12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Passed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2880360"/>
            <a:ext cx="1600200" cy="7772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14600" y="29535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EF4444"/>
                </a:solidFill>
                <a:latin typeface="Segoe UI"/>
              </a:rPr>
              <a:t>2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Violations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94760"/>
            <a:ext cx="1600200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8679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59E0B"/>
                </a:solidFill>
                <a:latin typeface="Segoe UI"/>
              </a:rPr>
              <a:t>1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Needs 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23160" y="3794760"/>
            <a:ext cx="1600200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3867912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64748B"/>
                </a:solidFill>
                <a:latin typeface="Segoe UI"/>
              </a:rPr>
              <a:t>0
</a:t>
            </a:r>
          </a:p>
          <a:p>
            <a:r>
              <a:rPr sz="800">
                <a:solidFill>
                  <a:srgbClr val="0F172A"/>
                </a:solidFill>
                <a:latin typeface="Segoe UI"/>
              </a:rPr>
              <a:t>Not Applicable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3291840" cy="11887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EF4444"/>
                </a:solidFill>
                <a:latin typeface="Segoe UI"/>
              </a:rPr>
              <a:t>⚖️ Section 36(1) LM Act Liability:
</a:t>
            </a:r>
            <a:r>
              <a:rPr sz="850">
                <a:solidFill>
                  <a:srgbClr val="0F172A"/>
                </a:solidFill>
                <a:latin typeface="Segoe UI"/>
              </a:rPr>
              <a:t>Missing manufacturing date renders commodity liable for First Offence Notice (₹25,000 compounding penalty).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1051560"/>
            <a:ext cx="725393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663440" y="1188720"/>
            <a:ext cx="6888175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0" y="1234440"/>
            <a:ext cx="6675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Consolas"/>
              </a:rPr>
              <a:t>RULE ID        MANDATORY STATUTORY DECLARATION         OBSERVED VALUE              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1645920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1719072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LM-001       Name &amp; Description of Commodity        Annapurna Pure Wheat Atta    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2212848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2286000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LM-002       Net Quantity &amp; Units Declaration       5 kg (Metric Units Compliant)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2779776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54880" y="2852928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LM-003       Maximum Retail Price (MRP incl. taxes) Rs. 240.00 (Inclusive of all taxes)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346704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54880" y="3419856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LM-004       Manufacturer &amp; Packer Address          Hind Consumer Pvt Ltd, Mumbai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3913632"/>
            <a:ext cx="6888175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54880" y="3986784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dirty="0">
                <a:solidFill>
                  <a:srgbClr val="0F172A"/>
                </a:solidFill>
                <a:latin typeface="Segoe UI"/>
              </a:rPr>
              <a:t>LM-005       Month &amp; Year of Manufacture            Missing specific calendar date </a:t>
            </a:r>
            <a:r>
              <a:rPr sz="950" b="1" dirty="0">
                <a:solidFill>
                  <a:srgbClr val="EF4444"/>
                </a:solidFill>
                <a:latin typeface="Segoe UI"/>
              </a:rPr>
              <a:t>✕ FAIL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63440" y="4480560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54880" y="4553712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FSSAI-01     14-Digit FSSAI License Number          10019082000142 (Format valid) 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5047488"/>
            <a:ext cx="6888175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54880" y="5120640"/>
            <a:ext cx="6675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F172A"/>
                </a:solidFill>
                <a:latin typeface="Segoe UI"/>
              </a:rPr>
              <a:t>FSSAI-02     Vegetarian / Non-Vegetarian Logo       Green square with green dot found </a:t>
            </a:r>
            <a:r>
              <a:rPr sz="950" b="1">
                <a:solidFill>
                  <a:srgbClr val="10B981"/>
                </a:solidFill>
                <a:latin typeface="Segoe UI"/>
              </a:rPr>
              <a:t>✓ PASS</a:t>
            </a:r>
          </a:p>
        </p:txBody>
      </p:sp>
      <p:sp>
        <p:nvSpPr>
          <p:cNvPr id="52" name="Rounded Rectangle 51">
            <a:hlinkClick r:id="rId13" action="ppaction://hlinksldjump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📑 View Violation &amp; Complaint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Enforcement Report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7 of 11</a:t>
            </a:r>
          </a:p>
        </p:txBody>
      </p:sp>
      <p:sp>
        <p:nvSpPr>
          <p:cNvPr id="20" name="Rounded Rectangle 19">
            <a:hlinkClick r:id="rId8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9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1234440"/>
            <a:ext cx="512064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1280160"/>
            <a:ext cx="777240" cy="4389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54480" y="1280160"/>
            <a:ext cx="4114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4F46E5"/>
                </a:solidFill>
                <a:latin typeface="Segoe UI"/>
              </a:rPr>
              <a:t>🏛️ MINISTRY OF CONSUMER AFFAIRS
</a:t>
            </a:r>
            <a:r>
              <a:rPr sz="1100" b="1">
                <a:solidFill>
                  <a:srgbClr val="0F172A"/>
                </a:solidFill>
                <a:latin typeface="Segoe UI"/>
              </a:rPr>
              <a:t>STATUTORY LABELLING INSPECTION DOSSIER
</a:t>
            </a:r>
            <a:r>
              <a:rPr sz="800">
                <a:solidFill>
                  <a:srgbClr val="64748B"/>
                </a:solidFill>
                <a:latin typeface="Segoe UI"/>
              </a:rPr>
              <a:t>Dossier ID: #SIH26-CMP-84920 • Verified by CompliScan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PRODUCT AUDIT SUMMARY:
</a:t>
            </a:r>
            <a:r>
              <a:rPr sz="950">
                <a:solidFill>
                  <a:srgbClr val="64748B"/>
                </a:solidFill>
                <a:latin typeface="Segoe UI"/>
              </a:rPr>
              <a:t>• Product: Annapurna Pure Wheat Atta (5 kg)
• Category: Food Commodities (Legal Metrology Group 1)
• Overall Compliance Score: 82% (Potential Non-Compliance)
</a:t>
            </a:r>
            <a:r>
              <a:rPr sz="1050" b="1">
                <a:solidFill>
                  <a:srgbClr val="EF4444"/>
                </a:solidFill>
                <a:latin typeface="Segoe UI"/>
              </a:rPr>
              <a:t>IDENTIFIED STATUTORY VIOLATION:
</a:t>
            </a:r>
            <a:r>
              <a:rPr sz="950">
                <a:solidFill>
                  <a:srgbClr val="0F172A"/>
                </a:solidFill>
                <a:latin typeface="Segoe UI"/>
              </a:rPr>
              <a:t>• Violation: Missing Manufacturing Date on Principal Display Panel.
• Legal Citation: Rule 6(1)(d) of Legal Metrology (PC) Rules 2011.
• Liability: Section 36(1) of Legal Metrology Act 2009 (₹25,000 Notice).
• Recommended Action: Issue Statutory Show-Cause Notice to Manufacturer.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051560"/>
            <a:ext cx="551657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234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4F46E5"/>
                </a:solidFill>
                <a:latin typeface="Segoe UI"/>
              </a:rPr>
              <a:t>🚨 1-Click Regulatory Enforcement Dispatch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874519"/>
            <a:ext cx="5120640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196595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1. Evidence Auto-Packaging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Original packaging image, OCR bounding boxes, and timestamped audit logs are hashed for court admissibility.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063239"/>
            <a:ext cx="512064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15467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2. Multi-Agency Forwarding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Direct API integration forwards dossier to National Consumer Helpline (1915), INGRAM, and State Metrology Controllers.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251959"/>
            <a:ext cx="512064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4343399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3. Show-Cause Auto-Drafting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Generates ready-to-sign Legal Notice citing Section 36(1) for enforcement officer dispatch.</a:t>
            </a:r>
          </a:p>
        </p:txBody>
      </p:sp>
      <p:sp>
        <p:nvSpPr>
          <p:cNvPr id="35" name="Rounded Rectangle 34">
            <a:hlinkClick r:id="rId9" action="ppaction://hlinksldjump"/>
          </p:cNvPr>
          <p:cNvSpPr/>
          <p:nvPr/>
        </p:nvSpPr>
        <p:spPr>
          <a:xfrm>
            <a:off x="6400800" y="5440680"/>
            <a:ext cx="512064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🚀 Submit Complaint to Enforcement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Ministry Admin Command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8 of 11</a:t>
            </a:r>
          </a:p>
        </p:txBody>
      </p:sp>
      <p:sp>
        <p:nvSpPr>
          <p:cNvPr id="20" name="Rounded Rectangle 19">
            <a:hlinkClick r:id="rId13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4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2633472" cy="10515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4F46E5"/>
                </a:solidFill>
                <a:latin typeface="Segoe UI"/>
              </a:rPr>
              <a:t>1,248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Total Audits Filed (+14% MoM)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1051560"/>
            <a:ext cx="2633472" cy="10515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F4444"/>
                </a:solidFill>
                <a:latin typeface="Segoe UI"/>
              </a:rPr>
              <a:t>241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Critical Violations (Seizure Alerts)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51560"/>
            <a:ext cx="2633472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F59E0B"/>
                </a:solidFill>
                <a:latin typeface="Segoe UI"/>
              </a:rPr>
              <a:t>89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Notices Dispatched (Sec 36 LM Act)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051560"/>
            <a:ext cx="2633472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0" y="109728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0B981"/>
                </a:solidFill>
                <a:latin typeface="Segoe UI"/>
              </a:rPr>
              <a:t>78.4%
</a:t>
            </a:r>
          </a:p>
          <a:p>
            <a:r>
              <a:rPr sz="850" b="1">
                <a:solidFill>
                  <a:srgbClr val="0F172A"/>
                </a:solidFill>
                <a:latin typeface="Segoe UI"/>
              </a:rPr>
              <a:t>National Avg Compliance (Target &gt;90%)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240280"/>
            <a:ext cx="5440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📊 Category-wise Violation Distribution (Live Telemetry)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Packaged Food &amp; Snacks — 42% Violations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1729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0080" y="3172968"/>
            <a:ext cx="4114800" cy="182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35661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Edible Oils &amp; Fats — 28% Violations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8587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0080" y="3858768"/>
            <a:ext cx="2834640" cy="182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2519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Cosmetics &amp; Personal Care — 18% Violations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5445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40080" y="4544568"/>
            <a:ext cx="1828800" cy="182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9377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Household Cleaning Agents — 12% Violations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230368"/>
            <a:ext cx="5029200" cy="1828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40080" y="5230368"/>
            <a:ext cx="1280160" cy="182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63640" y="2240280"/>
            <a:ext cx="54406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📑 Live Enforcement Registry (Recent Notices)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2880360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295351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#CMP-8492 | Annapurna Atta
</a:t>
            </a:r>
            <a:r>
              <a:rPr sz="800">
                <a:solidFill>
                  <a:srgbClr val="64748B"/>
                </a:solidFill>
                <a:latin typeface="Segoe UI"/>
              </a:rPr>
              <a:t>Issue: Missing Mfg Date  •  Action: </a:t>
            </a:r>
            <a:r>
              <a:rPr sz="800" b="1">
                <a:solidFill>
                  <a:srgbClr val="EF4444"/>
                </a:solidFill>
                <a:latin typeface="Segoe UI"/>
              </a:rPr>
              <a:t>High (Notice)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3593592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37960" y="3666744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#CMP-8488 | Kisan Sunflower Oil
</a:t>
            </a:r>
            <a:r>
              <a:rPr sz="800">
                <a:solidFill>
                  <a:srgbClr val="64748B"/>
                </a:solidFill>
                <a:latin typeface="Segoe UI"/>
              </a:rPr>
              <a:t>Issue: No Net Wt @ 30°C  •  Action: </a:t>
            </a:r>
            <a:r>
              <a:rPr sz="800" b="1">
                <a:solidFill>
                  <a:srgbClr val="EF4444"/>
                </a:solidFill>
                <a:latin typeface="Segoe UI"/>
              </a:rPr>
              <a:t>High (Notice)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4306824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4379976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#CMP-8479 | Glow Herbal Cream
</a:t>
            </a:r>
            <a:r>
              <a:rPr sz="800">
                <a:solidFill>
                  <a:srgbClr val="64748B"/>
                </a:solidFill>
                <a:latin typeface="Segoe UI"/>
              </a:rPr>
              <a:t>Issue: Missing CDSCO Lic  •  Action: </a:t>
            </a:r>
            <a:r>
              <a:rPr sz="800" b="1">
                <a:solidFill>
                  <a:srgbClr val="F59E0B"/>
                </a:solidFill>
                <a:latin typeface="Segoe UI"/>
              </a:rPr>
              <a:t>Review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5020056"/>
            <a:ext cx="50749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60" y="5093208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Segoe UI"/>
              </a:rPr>
              <a:t>#CMP-8462 | Fresh Choco Cookies
</a:t>
            </a:r>
            <a:r>
              <a:rPr sz="800">
                <a:solidFill>
                  <a:srgbClr val="64748B"/>
                </a:solidFill>
                <a:latin typeface="Segoe UI"/>
              </a:rPr>
              <a:t>Issue: Compliant Label  •  Action: </a:t>
            </a:r>
            <a:r>
              <a:rPr sz="800" b="1">
                <a:solidFill>
                  <a:srgbClr val="10B981"/>
                </a:solidFill>
                <a:latin typeface="Segoe UI"/>
              </a:rPr>
              <a:t>Pass</a:t>
            </a:r>
          </a:p>
        </p:txBody>
      </p:sp>
      <p:sp>
        <p:nvSpPr>
          <p:cNvPr id="54" name="Rounded Rectangle 53">
            <a:hlinkClick r:id="rId14" action="ppaction://hlinksldjump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🚀 Impact &amp; Future Roadmap 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Scalability &amp; Roadmap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9 of 11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5440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520" y="1234440"/>
            <a:ext cx="4892040" cy="457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✅ CURRENT MVP IMPACT (Delivered for SIH 2026)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1874519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1947671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⚡ Sub-Second Label Audits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Reduces packaging inspection time from 20 minutes to under 3 seconds using dual OCR engines.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2862071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2935223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🛡️ Zero-Hallucination Legal Integrity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Deterministic rule engine guarantees objective legal compliance without AI guesswork.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49623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3922775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📑 Instant Evidentiary Dossiers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Generates court-admissible PDF inspection certificates with Section 36 penalty estimations.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37175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910327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Segoe UI"/>
              </a:rPr>
              <a:t>🎙️ Multilingual Accessibility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Real-time Hindi &amp; English voice audio readout for non-English literate consumers.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051560"/>
            <a:ext cx="54406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537960" y="1234440"/>
            <a:ext cx="4892040" cy="457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12801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4F46E5"/>
                </a:solidFill>
                <a:latin typeface="Segoe UI"/>
              </a:rPr>
              <a:t>🔮 FUTURE SCOPE &amp; NATIONAL SCALING ROADMAP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37960" y="1874519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9400" y="1947671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📱 Native Mobile App &amp; Barcode Scanner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Direct camera integration with GS1 DataBar and 14-digit FSSAI FoSCoS live database sync.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2862071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2935223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🌐 22 Regional Indian Languages OCR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Expanding label parsing support to Tamil, Bengali, Telugu, Marathi, and Gujarati.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3849623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3922775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🏛️ Automated Gazette Rule Synchronizer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Web-scraper that auto-updates regulatory rule DB whenever Ministry issues new Gazette notifications.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4837175"/>
            <a:ext cx="48920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29400" y="4910327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F46E5"/>
                </a:solidFill>
                <a:latin typeface="Segoe UI"/>
              </a:rPr>
              <a:t>📶 Edge AI Offline Inspector
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Enabling offline label inspection for field enforcement officers in remote rural markets.</a:t>
            </a:r>
          </a:p>
        </p:txBody>
      </p:sp>
      <p:sp>
        <p:nvSpPr>
          <p:cNvPr id="44" name="Rounded Rectangle 43">
            <a:hlinkClick r:id="rId10" action="ppaction://hlinksldjump"/>
          </p:cNvPr>
          <p:cNvSpPr/>
          <p:nvPr/>
        </p:nvSpPr>
        <p:spPr>
          <a:xfrm>
            <a:off x="8961120" y="5806440"/>
            <a:ext cx="2773375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👥 Meet the Development Team 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UCET Hazaribagh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10 of 11</a:t>
            </a:r>
          </a:p>
        </p:txBody>
      </p:sp>
      <p:sp>
        <p:nvSpPr>
          <p:cNvPr id="20" name="Rounded Rectangle 19">
            <a:hlinkClick r:id="rId13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4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051560"/>
            <a:ext cx="11277295" cy="685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ucet-hazaribagh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" y="1097280"/>
            <a:ext cx="1097280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74519" y="1097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Segoe UI"/>
              </a:rPr>
              <a:t>🏛️ University College of Engineering &amp; Technology (UCET), VBU, Hazaribagh
</a:t>
            </a:r>
            <a:r>
              <a:rPr sz="900">
                <a:solidFill>
                  <a:srgbClr val="64748B"/>
                </a:solidFill>
                <a:latin typeface="Segoe UI"/>
              </a:rPr>
              <a:t>Smart India Hackathon 2026 • Problem Statement ID: SIH26034 • Ministry of Consumer Affairs, Food &amp; Public Distribution</a:t>
            </a:r>
          </a:p>
        </p:txBody>
      </p:sp>
      <p:pic>
        <p:nvPicPr>
          <p:cNvPr id="25" name="Picture 2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9880" y="1097280"/>
            <a:ext cx="1005840" cy="54864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57200" y="1874519"/>
            <a:ext cx="368777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hubham-kuma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" y="2057399"/>
            <a:ext cx="822960" cy="960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554480" y="2011679"/>
            <a:ext cx="2468880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 dirty="0">
                <a:solidFill>
                  <a:srgbClr val="0F172A"/>
                </a:solidFill>
                <a:latin typeface="Segoe UI"/>
              </a:rPr>
              <a:t>Shubham Kumar
</a:t>
            </a:r>
            <a:r>
              <a:rPr sz="850" b="1" dirty="0">
                <a:solidFill>
                  <a:srgbClr val="4F46E5"/>
                </a:solidFill>
                <a:latin typeface="Segoe UI"/>
              </a:rPr>
              <a:t> Full-Stack / AI Architect
</a:t>
            </a:r>
          </a:p>
          <a:p>
            <a:r>
              <a:rPr sz="800" dirty="0" err="1">
                <a:solidFill>
                  <a:srgbClr val="64748B"/>
                </a:solidFill>
                <a:latin typeface="Segoe UI"/>
              </a:rPr>
              <a:t>B.Tech</a:t>
            </a:r>
            <a:r>
              <a:rPr sz="800" dirty="0">
                <a:solidFill>
                  <a:srgbClr val="64748B"/>
                </a:solidFill>
                <a:latin typeface="Segoe UI"/>
              </a:rPr>
              <a:t> Information Technology
Session: 2024–27 (D2D)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187451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34840" y="205739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219455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01167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2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AI / ML &amp; Computer Vision Specialist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87451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0" y="205739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219455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201167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3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Backend &amp; Regulatory Rules Lead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4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Frontend &amp; UI/UX Specialist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43484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3484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5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Legal Research &amp; Verification Analyst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3977639"/>
            <a:ext cx="368777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229600" y="4160519"/>
            <a:ext cx="8229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29600" y="4297679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Segoe UI"/>
              </a:rPr>
              <a:t>M6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11479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Segoe UI"/>
              </a:rPr>
              <a:t>Team Member 6
</a:t>
            </a:r>
          </a:p>
          <a:p>
            <a:r>
              <a:rPr sz="850" b="1">
                <a:solidFill>
                  <a:srgbClr val="64748B"/>
                </a:solidFill>
                <a:latin typeface="Segoe UI"/>
              </a:rPr>
              <a:t>QA, Testing &amp; Cloud DevOps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B.Tech Engineering
Session: 2024–27</a:t>
            </a:r>
          </a:p>
        </p:txBody>
      </p:sp>
      <p:sp>
        <p:nvSpPr>
          <p:cNvPr id="49" name="Rounded Rectangle 48">
            <a:hlinkClick r:id="rId14" action="ppaction://hlinksldjump"/>
          </p:cNvPr>
          <p:cNvSpPr/>
          <p:nvPr/>
        </p:nvSpPr>
        <p:spPr>
          <a:xfrm>
            <a:off x="8961120" y="5897880"/>
            <a:ext cx="2773375" cy="320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🎯 Summary &amp; Product Hub 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ih-watermark-sub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190" y="1371600"/>
            <a:ext cx="548640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28600"/>
            <a:ext cx="11277295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mpliscan-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92608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29260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Segoe UI"/>
              </a:rPr>
              <a:t>CompliScan </a:t>
            </a:r>
            <a:r>
              <a:rPr sz="1300" b="1">
                <a:solidFill>
                  <a:srgbClr val="10B981"/>
                </a:solidFill>
                <a:latin typeface="Segoe UI"/>
              </a:rPr>
              <a:t>AI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Thank You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329184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🏠 Home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424281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💡 Solution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193792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🔍 Live Demo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6144768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🏛️ Architecture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7095744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📊 Dashboard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8046720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⚖️ Enforcement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8997696" y="329184"/>
            <a:ext cx="896112" cy="402336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0">
                <a:solidFill>
                  <a:srgbClr val="4F46E5"/>
                </a:solidFill>
                <a:latin typeface="Segoe UI"/>
              </a:rPr>
              <a:t>👥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292608"/>
            <a:ext cx="16916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320040"/>
            <a:ext cx="777240" cy="438912"/>
          </a:xfrm>
          <a:prstGeom prst="rect">
            <a:avLst/>
          </a:prstGeom>
        </p:spPr>
      </p:pic>
      <p:pic>
        <p:nvPicPr>
          <p:cNvPr id="16" name="Picture 15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320040"/>
            <a:ext cx="777240" cy="43891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6263640"/>
            <a:ext cx="1127729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32764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748B"/>
                </a:solidFill>
                <a:latin typeface="Segoe UI"/>
              </a:rPr>
              <a:t>🇮🇳 Smart India Hackathon 2026 • PS ID: SIH26034 • Ministry of Consumer Affairs, Food &amp; Public Distribution • UCET VBU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327648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</a:rPr>
              <a:t>Slide 11 of 11</a:t>
            </a:r>
          </a:p>
        </p:txBody>
      </p:sp>
      <p:sp>
        <p:nvSpPr>
          <p:cNvPr id="20" name="Rounded Rectangle 19">
            <a:hlinkClick r:id="rId10" action="ppaction://hlinksldjump"/>
          </p:cNvPr>
          <p:cNvSpPr/>
          <p:nvPr/>
        </p:nvSpPr>
        <p:spPr>
          <a:xfrm>
            <a:off x="9921240" y="6309360"/>
            <a:ext cx="77724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0F172A"/>
                </a:solidFill>
                <a:latin typeface="Segoe UI"/>
              </a:rPr>
              <a:t>◀ Prev</a:t>
            </a:r>
          </a:p>
        </p:txBody>
      </p:sp>
      <p:sp>
        <p:nvSpPr>
          <p:cNvPr id="21" name="Rounded Rectangle 20">
            <a:hlinkClick r:id="rId13" action="ppaction://hlinksldjump"/>
          </p:cNvPr>
          <p:cNvSpPr/>
          <p:nvPr/>
        </p:nvSpPr>
        <p:spPr>
          <a:xfrm>
            <a:off x="10789920" y="6309360"/>
            <a:ext cx="777240" cy="29260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1143000"/>
            <a:ext cx="944849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94990" y="1371600"/>
            <a:ext cx="640080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ministry-emblem-transpar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0" y="1408176"/>
            <a:ext cx="777240" cy="420624"/>
          </a:xfrm>
          <a:prstGeom prst="rect">
            <a:avLst/>
          </a:prstGeom>
        </p:spPr>
      </p:pic>
      <p:pic>
        <p:nvPicPr>
          <p:cNvPr id="25" name="Picture 24" descr="sih-transparent-bul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2191" y="1408176"/>
            <a:ext cx="777240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3440" y="1417320"/>
            <a:ext cx="4480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10B981"/>
                </a:solidFill>
                <a:latin typeface="Segoe UI"/>
              </a:rPr>
              <a:t>SMART INDIA HACKATHON 2026 • FINAL PRESENTATION
</a:t>
            </a:r>
          </a:p>
          <a:p>
            <a:r>
              <a:rPr sz="800">
                <a:solidFill>
                  <a:srgbClr val="64748B"/>
                </a:solidFill>
                <a:latin typeface="Segoe UI"/>
              </a:rPr>
              <a:t>Problem Statement: SIH26034 • Ministry of Consumer Affairs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201168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F172A"/>
                </a:solidFill>
                <a:latin typeface="Segoe UI"/>
              </a:rPr>
              <a:t>CompliScan AI
</a:t>
            </a:r>
            <a:r>
              <a:rPr sz="1500" b="1">
                <a:solidFill>
                  <a:srgbClr val="4F46E5"/>
                </a:solidFill>
                <a:latin typeface="Segoe UI"/>
              </a:rPr>
              <a:t>Making Product Label Compliance Smarter, Faster &amp; Consumer-First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15468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Segoe UI"/>
              </a:rPr>
              <a:t>Empowering 1.4B Indian Citizens • Accelerating Regulatory Enforcement • Eradicating Packaging Fraud</a:t>
            </a:r>
          </a:p>
        </p:txBody>
      </p:sp>
      <p:sp>
        <p:nvSpPr>
          <p:cNvPr id="29" name="Rounded Rectangle 28">
            <a:hlinkClick r:id="rId4" action="ppaction://hlinksldjump"/>
          </p:cNvPr>
          <p:cNvSpPr/>
          <p:nvPr/>
        </p:nvSpPr>
        <p:spPr>
          <a:xfrm>
            <a:off x="173736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4F46E5"/>
                </a:solidFill>
                <a:latin typeface="Segoe UI"/>
              </a:rPr>
              <a:t>🏠 Back to Home</a:t>
            </a:r>
          </a:p>
        </p:txBody>
      </p:sp>
      <p:sp>
        <p:nvSpPr>
          <p:cNvPr id="30" name="Rounded Rectangle 29">
            <a:hlinkClick r:id="rId6" action="ppaction://hlinksldjump"/>
          </p:cNvPr>
          <p:cNvSpPr/>
          <p:nvPr/>
        </p:nvSpPr>
        <p:spPr>
          <a:xfrm>
            <a:off x="3520440" y="3977639"/>
            <a:ext cx="164592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🔍 Live Scanner Demo</a:t>
            </a:r>
          </a:p>
        </p:txBody>
      </p:sp>
      <p:sp>
        <p:nvSpPr>
          <p:cNvPr id="31" name="Rounded Rectangle 30">
            <a:hlinkClick r:id="rId7" action="ppaction://hlinksldjump"/>
          </p:cNvPr>
          <p:cNvSpPr/>
          <p:nvPr/>
        </p:nvSpPr>
        <p:spPr>
          <a:xfrm>
            <a:off x="530352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🏛️ Technical Architecture</a:t>
            </a:r>
          </a:p>
        </p:txBody>
      </p:sp>
      <p:sp>
        <p:nvSpPr>
          <p:cNvPr id="32" name="Rounded Rectangle 31">
            <a:hlinkClick r:id="rId8" action="ppaction://hlinksldjump"/>
          </p:cNvPr>
          <p:cNvSpPr/>
          <p:nvPr/>
        </p:nvSpPr>
        <p:spPr>
          <a:xfrm>
            <a:off x="7086600" y="3977639"/>
            <a:ext cx="16459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📊 Compliance Dashboard</a:t>
            </a:r>
          </a:p>
        </p:txBody>
      </p:sp>
      <p:sp>
        <p:nvSpPr>
          <p:cNvPr id="33" name="Rounded Rectangle 32">
            <a:hlinkClick r:id="rId9" action="ppaction://hlinksldjump"/>
          </p:cNvPr>
          <p:cNvSpPr/>
          <p:nvPr/>
        </p:nvSpPr>
        <p:spPr>
          <a:xfrm>
            <a:off x="8869680" y="3977639"/>
            <a:ext cx="16459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⚖️ Enforcement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80060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4F46E5"/>
                </a:solidFill>
                <a:latin typeface="Segoe UI"/>
              </a:rPr>
              <a:t>University College of Engineering &amp; Technology (UCET), VBU, Hazaribagh • Problem ID: SIH26034
Thank You Judges &amp; Mentors for your valuable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2601</Words>
  <Application>Microsoft Office PowerPoint</Application>
  <PresentationFormat>Widescreen</PresentationFormat>
  <Paragraphs>327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kumarshubham3187@gmail.com</cp:lastModifiedBy>
  <cp:revision>2</cp:revision>
  <dcterms:created xsi:type="dcterms:W3CDTF">2013-01-27T09:14:16Z</dcterms:created>
  <dcterms:modified xsi:type="dcterms:W3CDTF">2026-09-12T06:38:27Z</dcterms:modified>
  <cp:category/>
</cp:coreProperties>
</file>