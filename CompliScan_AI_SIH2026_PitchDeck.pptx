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7.xml"/><Relationship Id="rId10" Type="http://schemas.openxmlformats.org/officeDocument/2006/relationships/slide" Target="slide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9.xml"/><Relationship Id="rId10" Type="http://schemas.openxmlformats.org/officeDocument/2006/relationships/slide" Target="slide1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1.xml"/><Relationship Id="rId3" Type="http://schemas.openxmlformats.org/officeDocument/2006/relationships/slide" Target="slide3.xml"/><Relationship Id="rId4" Type="http://schemas.openxmlformats.org/officeDocument/2006/relationships/slide" Target="slide4.xml"/><Relationship Id="rId5" Type="http://schemas.openxmlformats.org/officeDocument/2006/relationships/slide" Target="slide5.xml"/><Relationship Id="rId6" Type="http://schemas.openxmlformats.org/officeDocument/2006/relationships/slide" Target="slide6.xml"/><Relationship Id="rId7" Type="http://schemas.openxmlformats.org/officeDocument/2006/relationships/slide" Target="slide8.xml"/><Relationship Id="rId8" Type="http://schemas.openxmlformats.org/officeDocument/2006/relationships/slide" Target="slide10.xml"/><Relationship Id="rId9" Type="http://schemas.openxmlformats.org/officeDocument/2006/relationships/slide" Target="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National AI Compliance Portal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1 of 11</a:t>
            </a:r>
          </a:p>
        </p:txBody>
      </p:sp>
      <p:sp>
        <p:nvSpPr>
          <p:cNvPr id="15" name="Rounded Rectangle 14">
            <a:hlinkClick action="ppaction://hlinksldjump" r:id="rId2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694944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2960" y="1325880"/>
            <a:ext cx="4114800" cy="3200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1353312"/>
            <a:ext cx="4023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10B981"/>
                </a:solidFill>
                <a:latin typeface="Segoe UI"/>
              </a:rPr>
              <a:t>🇮🇳 SMART INDIA HACKATHON 2026 • PS ID: SIH26034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1783080"/>
            <a:ext cx="6217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172A"/>
                </a:solidFill>
                <a:latin typeface="Segoe UI"/>
              </a:rPr>
              <a:t>Scan. Verify. Comply.
</a:t>
            </a:r>
            <a:r>
              <a:rPr sz="1600" b="1">
                <a:solidFill>
                  <a:srgbClr val="4F46E5"/>
                </a:solidFill>
                <a:latin typeface="Segoe UI"/>
              </a:rPr>
              <a:t>AI-Powered Product Label Compliance &amp; Consumer Protection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2971800"/>
            <a:ext cx="62179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>
                <a:solidFill>
                  <a:srgbClr val="64748B"/>
                </a:solidFill>
                <a:latin typeface="Segoe UI"/>
              </a:rPr>
              <a:t>Empowering Indian citizens and enforcement authorities with sub-second OCR extraction and deterministic regulatory validation against Legal Metrology Rules 2011 and FSSAI 2020 frameworks.</a:t>
            </a:r>
          </a:p>
        </p:txBody>
      </p:sp>
      <p:sp>
        <p:nvSpPr>
          <p:cNvPr id="22" name="Rounded Rectangle 21">
            <a:hlinkClick action="ppaction://hlinksldjump" r:id="rId4"/>
          </p:cNvPr>
          <p:cNvSpPr/>
          <p:nvPr/>
        </p:nvSpPr>
        <p:spPr>
          <a:xfrm>
            <a:off x="822960" y="4160520"/>
            <a:ext cx="1920240" cy="50292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🚀 Start Live Demo</a:t>
            </a:r>
          </a:p>
        </p:txBody>
      </p:sp>
      <p:sp>
        <p:nvSpPr>
          <p:cNvPr id="23" name="Rounded Rectangle 22">
            <a:hlinkClick action="ppaction://hlinksldjump" r:id="rId3"/>
          </p:cNvPr>
          <p:cNvSpPr/>
          <p:nvPr/>
        </p:nvSpPr>
        <p:spPr>
          <a:xfrm>
            <a:off x="2880360" y="4160520"/>
            <a:ext cx="19202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4F46E5"/>
                </a:solidFill>
                <a:latin typeface="Segoe UI"/>
              </a:rPr>
              <a:t>📖 Explore Solution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4937760" y="4160520"/>
            <a:ext cx="1920240" cy="5029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0F172A"/>
                </a:solidFill>
                <a:latin typeface="Segoe UI"/>
              </a:rPr>
              <a:t>🏛️ View Architecture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960" y="4892040"/>
            <a:ext cx="1920240" cy="914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4956048"/>
            <a:ext cx="1737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4F46E5"/>
                </a:solidFill>
                <a:latin typeface="Segoe UI"/>
              </a:rPr>
              <a:t>22+ Rules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Legal Metrology &amp; FSSAI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880360" y="4892040"/>
            <a:ext cx="1920240" cy="914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4956048"/>
            <a:ext cx="1737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4F46E5"/>
                </a:solidFill>
                <a:latin typeface="Segoe UI"/>
              </a:rPr>
              <a:t>100%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Deterministic Logic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37760" y="4892040"/>
            <a:ext cx="1920240" cy="91440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0" y="4956048"/>
            <a:ext cx="1737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4F46E5"/>
                </a:solidFill>
                <a:latin typeface="Segoe UI"/>
              </a:rPr>
              <a:t>&lt; 3 Sec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Dual OCR Pipeline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589520" y="1051560"/>
            <a:ext cx="4144975" cy="502920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7863840" y="1325880"/>
            <a:ext cx="3596335" cy="301752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0" y="1463040"/>
            <a:ext cx="320040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1">
                <a:solidFill>
                  <a:srgbClr val="10B981"/>
                </a:solidFill>
                <a:latin typeface="Consolas"/>
              </a:rPr>
              <a:t>🎯 [AR FORENSIC INSPECTION HUD]
</a:t>
            </a:r>
            <a:r>
              <a:rPr sz="900">
                <a:solidFill>
                  <a:srgbClr val="E2E8F0"/>
                </a:solidFill>
                <a:latin typeface="Consolas"/>
              </a:rPr>
              <a:t>• Target: Packaged Food Commodity
• OCR Bounding Boxes: 6 Detected
• MRP &amp; Net Qty: Isolated ✓
• FSSAI Lic Number: Verified ✓
• Expiry / Mfg Date: Flagged ⚠️
Live Reticle Coordinates: X: 420, Y: 680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4526280"/>
            <a:ext cx="3596335" cy="1325880"/>
          </a:xfrm>
          <a:prstGeom prst="roundRect">
            <a:avLst/>
          </a:prstGeom>
          <a:solidFill>
            <a:srgbClr val="182235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046720" y="4617720"/>
            <a:ext cx="3200400" cy="1143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Segoe UI"/>
              </a:rPr>
              <a:t>Statutory Score: 82% (High Compliance)
</a:t>
            </a:r>
            <a:r>
              <a:rPr sz="900">
                <a:solidFill>
                  <a:srgbClr val="CBD5E1"/>
                </a:solidFill>
                <a:latin typeface="Segoe UI"/>
              </a:rPr>
              <a:t>Evaluation: Passed 12 of 14 mandatory labelling checks. Minor manufacturing date ambiguity flagged for inspection review.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Problem Context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2 of 11</a:t>
            </a:r>
          </a:p>
        </p:txBody>
      </p:sp>
      <p:sp>
        <p:nvSpPr>
          <p:cNvPr id="15" name="Rounded Rectangle 14">
            <a:hlinkClick action="ppaction://hlinksldjump" r:id="rId2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3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11277295" cy="7772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115568"/>
            <a:ext cx="108813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F4444"/>
                </a:solidFill>
                <a:latin typeface="Segoe UI"/>
              </a:rPr>
              <a:t>⚠️ THE PROBLEM: Why Packaged Product Label Verification Fails at Scale
</a:t>
            </a:r>
            <a:r>
              <a:rPr sz="1100">
                <a:solidFill>
                  <a:srgbClr val="64748B"/>
                </a:solidFill>
                <a:latin typeface="Segoe UI"/>
              </a:rPr>
              <a:t>Millions of consumer commodities hit retail shelves daily with missing, deceptive, or non-compliant statutory declarations.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1965960"/>
            <a:ext cx="551657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57200" y="1965960"/>
            <a:ext cx="109728" cy="18288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10312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F59E0B"/>
                </a:solidFill>
                <a:latin typeface="Segoe UI"/>
              </a:rPr>
              <a:t>1. Consumer Information Asymmetry
</a:t>
            </a:r>
          </a:p>
          <a:p>
            <a:r>
              <a:rPr sz="1000">
                <a:solidFill>
                  <a:srgbClr val="0F172A"/>
                </a:solidFill>
                <a:latin typeface="Segoe UI"/>
              </a:rPr>
              <a:t>Everyday citizens cannot decipher complex statutory codes, E-numbers, font height minimums, or mandatory declaration positions required under Legal Metrology Rules.
</a:t>
            </a:r>
          </a:p>
          <a:p>
            <a:r>
              <a:rPr sz="950" b="1">
                <a:solidFill>
                  <a:srgbClr val="F59E0B"/>
                </a:solidFill>
                <a:latin typeface="Segoe UI"/>
              </a:rPr>
              <a:t>❌ 85%+ consumers cannot detect missing declarations manually.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1965960"/>
            <a:ext cx="551657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17920" y="1965960"/>
            <a:ext cx="109728" cy="18288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46520" y="2103120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2. Enforcement Inspection Bottleneck
</a:t>
            </a:r>
          </a:p>
          <a:p>
            <a:r>
              <a:rPr sz="1000">
                <a:solidFill>
                  <a:srgbClr val="0F172A"/>
                </a:solidFill>
                <a:latin typeface="Segoe UI"/>
              </a:rPr>
              <a:t>Manual retail inspections by enforcement officers are time-consuming and cover less than 1% of products in circulating markets.
</a:t>
            </a:r>
          </a:p>
          <a:p>
            <a:r>
              <a:rPr sz="950" b="1">
                <a:solidFill>
                  <a:srgbClr val="EF4444"/>
                </a:solidFill>
                <a:latin typeface="Segoe UI"/>
              </a:rPr>
              <a:t>❌ Physical spot-audits cannot scale across 100M+ retail SKUs.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977639"/>
            <a:ext cx="551657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457200" y="3977639"/>
            <a:ext cx="109728" cy="182880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85800" y="4114799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Segoe UI"/>
              </a:rPr>
              <a:t>3. Complex Multi-Agency Regulations
</a:t>
            </a:r>
          </a:p>
          <a:p>
            <a:r>
              <a:rPr sz="1000">
                <a:solidFill>
                  <a:srgbClr val="0F172A"/>
                </a:solidFill>
                <a:latin typeface="Segoe UI"/>
              </a:rPr>
              <a:t>Rules are fragmented across Legal Metrology Act 2009, FSSAI Labelling Regulations 2020, and CDSCO Cosmetic mandates with differing requirements.
</a:t>
            </a:r>
          </a:p>
          <a:p>
            <a:r>
              <a:rPr sz="950" b="1">
                <a:solidFill>
                  <a:srgbClr val="4F46E5"/>
                </a:solidFill>
                <a:latin typeface="Segoe UI"/>
              </a:rPr>
              <a:t>❌ Cross-regulatory confusion leads to rampant non-compliance.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7920" y="3977639"/>
            <a:ext cx="5516575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0" y="3977639"/>
            <a:ext cx="109728" cy="182880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4114799"/>
            <a:ext cx="512064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F4444"/>
                </a:solidFill>
                <a:latin typeface="Segoe UI"/>
              </a:rPr>
              <a:t>4. Consumer Safety &amp; Financial Harm
</a:t>
            </a:r>
          </a:p>
          <a:p>
            <a:r>
              <a:rPr sz="1000">
                <a:solidFill>
                  <a:srgbClr val="0F172A"/>
                </a:solidFill>
                <a:latin typeface="Segoe UI"/>
              </a:rPr>
              <a:t>Missing allergen warnings, deceptive net quantities, altered MRPs, and fake 14-digit FSSAI numbers directly compromise public health and consumer trust.
</a:t>
            </a:r>
          </a:p>
          <a:p>
            <a:r>
              <a:rPr sz="950" b="1">
                <a:solidFill>
                  <a:srgbClr val="EF4444"/>
                </a:solidFill>
                <a:latin typeface="Segoe UI"/>
              </a:rPr>
              <a:t>❌ Severe statutory liability under Section 36(1) of LM Act.</a:t>
            </a:r>
          </a:p>
        </p:txBody>
      </p:sp>
      <p:sp>
        <p:nvSpPr>
          <p:cNvPr id="31" name="Rounded Rectangle 30">
            <a:hlinkClick action="ppaction://hlinksldjump" r:id="rId3"/>
          </p:cNvPr>
          <p:cNvSpPr/>
          <p:nvPr/>
        </p:nvSpPr>
        <p:spPr>
          <a:xfrm>
            <a:off x="8961120" y="585216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👉 See Our Solution (CompliScan AI)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Platform Capabilities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3 of 11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4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11277295" cy="12801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115568"/>
            <a:ext cx="1088136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>
                <a:solidFill>
                  <a:srgbClr val="4F46E5"/>
                </a:solidFill>
                <a:latin typeface="Segoe UI"/>
              </a:rPr>
              <a:t>THE COMPLISCAN AI SOLUTION: 3-Step Automated Verification Pipeline
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1444752"/>
            <a:ext cx="33832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1481328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72A"/>
                </a:solidFill>
                <a:latin typeface="Segoe UI"/>
              </a:rPr>
              <a:t>Step 1: Upload Image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Capture packaging front, back, or nutrition panel via camera or upload.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0" y="1444752"/>
            <a:ext cx="3383280" cy="777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89120" y="1481328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72A"/>
                </a:solidFill>
                <a:latin typeface="Segoe UI"/>
              </a:rPr>
              <a:t>Step 2: AI Parsing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Dual-Engine OCR extracts text; Groq LLM normalizes into structured JSON.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63840" y="1444752"/>
            <a:ext cx="3383280" cy="7772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55280" y="1481328"/>
            <a:ext cx="3200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72A"/>
                </a:solidFill>
                <a:latin typeface="Segoe UI"/>
              </a:rPr>
              <a:t>Step 3: Rule Audit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Deterministic Engine validates against 22+ statutory rules &amp; outputs PDF dossier.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5146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6517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46E5"/>
                </a:solidFill>
                <a:latin typeface="Segoe UI"/>
              </a:rPr>
              <a:t>🔍 Dual-Engine OCR
</a:t>
            </a:r>
          </a:p>
          <a:p>
            <a:r>
              <a:rPr sz="950">
                <a:solidFill>
                  <a:srgbClr val="64748B"/>
                </a:solidFill>
                <a:latin typeface="Segoe UI"/>
              </a:rPr>
              <a:t>Combines Tesseract &amp; Gemini Vision for Hindi and English label character extraction.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51960" y="25146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34840" y="26517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46E5"/>
                </a:solidFill>
                <a:latin typeface="Segoe UI"/>
              </a:rPr>
              <a:t>🤖 AI Structuring Assistant
</a:t>
            </a:r>
          </a:p>
          <a:p>
            <a:r>
              <a:rPr sz="950">
                <a:solidFill>
                  <a:srgbClr val="64748B"/>
                </a:solidFill>
                <a:latin typeface="Segoe UI"/>
              </a:rPr>
              <a:t>Structures unorganized OCR tokens into normalized JSON key-value pairs without hallucinations.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046720" y="25146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0" y="26517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Segoe UI"/>
              </a:rPr>
              <a:t>⚖️ Deterministic Law Engine
</a:t>
            </a:r>
          </a:p>
          <a:p>
            <a:r>
              <a:rPr sz="950">
                <a:solidFill>
                  <a:srgbClr val="64748B"/>
                </a:solidFill>
                <a:latin typeface="Segoe UI"/>
              </a:rPr>
              <a:t>100% rule-based deterministic evaluation against Legal Metrology &amp; FSSAI statutory regulations.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3434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44805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Segoe UI"/>
              </a:rPr>
              <a:t>📊 0–100% Compliance Score
</a:t>
            </a:r>
          </a:p>
          <a:p>
            <a:r>
              <a:rPr sz="950">
                <a:solidFill>
                  <a:srgbClr val="64748B"/>
                </a:solidFill>
                <a:latin typeface="Segoe UI"/>
              </a:rPr>
              <a:t>Clear quantitative metric indicating legal packaging compliance and consumer safety risk.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51960" y="43434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434840" y="44805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Segoe UI"/>
              </a:rPr>
              <a:t>🚨 Section 36 Penalty Estimator
</a:t>
            </a:r>
          </a:p>
          <a:p>
            <a:r>
              <a:rPr sz="950">
                <a:solidFill>
                  <a:srgbClr val="64748B"/>
                </a:solidFill>
                <a:latin typeface="Segoe UI"/>
              </a:rPr>
              <a:t>Automated financial liability calculation for manufacturer non-compliance under LM Act 2009.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046720" y="4343400"/>
            <a:ext cx="3687775" cy="1691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4480560"/>
            <a:ext cx="3322015" cy="1417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59E0B"/>
                </a:solidFill>
                <a:latin typeface="Segoe UI"/>
              </a:rPr>
              <a:t>📑 1-Click Complaint Dispatch
</a:t>
            </a:r>
          </a:p>
          <a:p>
            <a:r>
              <a:rPr sz="950">
                <a:solidFill>
                  <a:srgbClr val="64748B"/>
                </a:solidFill>
                <a:latin typeface="Segoe UI"/>
              </a:rPr>
              <a:t>Automated formal complaint generation and forwarding to National Consumer Helpline 1915.</a:t>
            </a:r>
          </a:p>
        </p:txBody>
      </p:sp>
      <p:sp>
        <p:nvSpPr>
          <p:cNvPr id="37" name="Rounded Rectangle 36">
            <a:hlinkClick action="ppaction://hlinksldjump" r:id="rId4"/>
          </p:cNvPr>
          <p:cNvSpPr/>
          <p:nvPr/>
        </p:nvSpPr>
        <p:spPr>
          <a:xfrm>
            <a:off x="8961120" y="5806440"/>
            <a:ext cx="2773375" cy="36576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▶ Try Live Scan Simulation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Scanning Interface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4 of 11</a:t>
            </a:r>
          </a:p>
        </p:txBody>
      </p:sp>
      <p:sp>
        <p:nvSpPr>
          <p:cNvPr id="15" name="Rounded Rectangle 14">
            <a:hlinkClick action="ppaction://hlinksldjump" r:id="rId3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5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45720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143000"/>
            <a:ext cx="42062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0F172A"/>
                </a:solidFill>
                <a:latin typeface="Segoe UI"/>
              </a:rPr>
              <a:t>📸 Uploaded Label: Packaged Wheat Flour (5kg)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1600200"/>
            <a:ext cx="4023360" cy="3657600"/>
          </a:xfrm>
          <a:prstGeom prst="roundRect">
            <a:avLst/>
          </a:prstGeom>
          <a:solidFill>
            <a:srgbClr val="F1F5F9"/>
          </a:solidFill>
          <a:ln w="12700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14400" y="1828800"/>
            <a:ext cx="2926080" cy="64008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60120" y="1874519"/>
            <a:ext cx="2834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00" b="1">
                <a:solidFill>
                  <a:srgbClr val="10B981"/>
                </a:solidFill>
                <a:latin typeface="Consolas"/>
              </a:rPr>
              <a:t>🏷️ BRAND: Annapurna Pure Atta (Rule 6(1)(a) PASS)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" y="2606040"/>
            <a:ext cx="182880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60120" y="2651760"/>
            <a:ext cx="173736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10B981"/>
                </a:solidFill>
                <a:latin typeface="Consolas"/>
              </a:rPr>
              <a:t>⚖️ Net Qty: 5 kg
(Rule 6(1)(b) PASS)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2606040"/>
            <a:ext cx="1737360" cy="54864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880360" y="2651760"/>
            <a:ext cx="1645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10B981"/>
                </a:solidFill>
                <a:latin typeface="Consolas"/>
              </a:rPr>
              <a:t>💵 MRP: Rs. 240.00
(Rule 6(1)(e) PASS)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" y="3291840"/>
            <a:ext cx="3566160" cy="594360"/>
          </a:xfrm>
          <a:prstGeom prst="roundRect">
            <a:avLst/>
          </a:prstGeom>
          <a:solidFill>
            <a:srgbClr val="FEE2E2"/>
          </a:solidFill>
          <a:ln w="1905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" y="3337560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EF4444"/>
                </a:solidFill>
                <a:latin typeface="Consolas"/>
              </a:rPr>
              <a:t>⚠️ MFG DATE: 'BEST BEFORE 4 MONTHS' (No Date Specified)
Rule 6(1)(d) VIOLATION DETECTED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14400" y="4023360"/>
            <a:ext cx="3566160" cy="594360"/>
          </a:xfrm>
          <a:prstGeom prst="roundRect">
            <a:avLst/>
          </a:prstGeom>
          <a:solidFill>
            <a:srgbClr val="FEF3C7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4069080"/>
            <a:ext cx="347472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750" b="1">
                <a:solidFill>
                  <a:srgbClr val="F59E0B"/>
                </a:solidFill>
                <a:latin typeface="Consolas"/>
              </a:rPr>
              <a:t>🔍 FSSAI LIC: 10019082000142 (14 Digits Detected)
Checksum Check: Valid format • Needs DB sync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31520" y="5394960"/>
            <a:ext cx="4023360" cy="50292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Segoe UI"/>
              </a:rPr>
              <a:t>🔍 Holographic AR Reticle Active (X: 380, Y: 520)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212080" y="1051560"/>
            <a:ext cx="652241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94960" y="1234440"/>
            <a:ext cx="6156655" cy="1508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532120" y="1298448"/>
            <a:ext cx="5852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4F46E5"/>
                </a:solidFill>
                <a:latin typeface="Segoe UI"/>
              </a:rPr>
              <a:t>STAGE 1: Dual-Engine OCR Raw Extraction (Gemini + Tesseract)
</a:t>
            </a:r>
            <a:r>
              <a:rPr sz="850">
                <a:solidFill>
                  <a:srgbClr val="64748B"/>
                </a:solidFill>
                <a:latin typeface="Consolas"/>
              </a:rPr>
              <a:t>RAW TOKENS: [ANNAPURNA PURE ATTA] [NET QTY 5kg] [MRP Rs 240.00 INCL OF ALL TAXES] [PKD 08/26] [BEST BEFORE 4 MONTHS FROM PACKAGING] [FSSAI LIC NO 10019082000142] [MKT BY HIND CONSUMER PVT LTD MUMBAI 400001]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94960" y="2880360"/>
            <a:ext cx="6156655" cy="1783080"/>
          </a:xfrm>
          <a:prstGeom prst="round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532120" y="2944368"/>
            <a:ext cx="58521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Segoe UI"/>
              </a:rPr>
              <a:t>STAGE 2: Groq Structured JSON Normalization (No Legal Hallucinations)
</a:t>
            </a:r>
            <a:r>
              <a:rPr sz="800">
                <a:solidFill>
                  <a:srgbClr val="E2E8F0"/>
                </a:solidFill>
                <a:latin typeface="Consolas"/>
              </a:rPr>
              <a:t>{
  "productName": "Annapurna Pure Atta",
  "category": "Food",
  "netQuantity": "5 kg",
  "mrp": "Rs. 240.00",
  "mfgDate": null, // Flagged: Missing specific calendar date
  "fssaiNumber": "10019082000142"
}</a:t>
            </a:r>
          </a:p>
        </p:txBody>
      </p:sp>
      <p:sp>
        <p:nvSpPr>
          <p:cNvPr id="36" name="Rounded Rectangle 35">
            <a:hlinkClick action="ppaction://hlinksldjump" r:id="rId5"/>
          </p:cNvPr>
          <p:cNvSpPr/>
          <p:nvPr/>
        </p:nvSpPr>
        <p:spPr>
          <a:xfrm>
            <a:off x="5394960" y="4892040"/>
            <a:ext cx="6156655" cy="5486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⚖️ Analyze Compliance (Run Deterministic Rule Engine) 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AI vs Law Separation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5 of 11</a:t>
            </a:r>
          </a:p>
        </p:txBody>
      </p:sp>
      <p:sp>
        <p:nvSpPr>
          <p:cNvPr id="15" name="Rounded Rectangle 14">
            <a:hlinkClick action="ppaction://hlinksldjump" r:id="rId4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6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11277295" cy="6858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115568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10B981"/>
                </a:solidFill>
                <a:latin typeface="Segoe UI"/>
              </a:rPr>
              <a:t>CORE ARCHITECTURAL PRINCIPLE: AI Extracts Text • Manually Defined Rule Engine Decides Legality
</a:t>
            </a:r>
            <a:r>
              <a:rPr sz="1000">
                <a:solidFill>
                  <a:srgbClr val="64748B"/>
                </a:solidFill>
                <a:latin typeface="Segoe UI"/>
              </a:rPr>
              <a:t>Groq is strictly an NLP extraction accelerator. Final legal compliance is computed 100% deterministically against official Gazette rules.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1920240"/>
            <a:ext cx="1444752" cy="1371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Segoe UI"/>
              </a:rPr>
              <a:t>1. Input Image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Packaging capture / upload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093976" y="1920240"/>
            <a:ext cx="1444752" cy="1371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167128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Segoe UI"/>
              </a:rPr>
              <a:t>2. Dual OCR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Tesseract &amp; Gemini Vision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30752" y="1920240"/>
            <a:ext cx="1444752" cy="13716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803904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Segoe UI"/>
              </a:rPr>
              <a:t>3. Groq JSON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Normalizes key-value schema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367528" y="1920240"/>
            <a:ext cx="1444752" cy="137160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40680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F59E0B"/>
                </a:solidFill>
                <a:latin typeface="Segoe UI"/>
              </a:rPr>
              <a:t>4. Category Engine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Maps Food / Oil / Cosmetics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004304" y="1920240"/>
            <a:ext cx="1444752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77456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Segoe UI"/>
              </a:rPr>
              <a:t>5. Rule Database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Legal Metrology &amp; FSSAI Acts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41080" y="1920240"/>
            <a:ext cx="1444752" cy="13716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714232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10B981"/>
                </a:solidFill>
                <a:latin typeface="Segoe UI"/>
              </a:rPr>
              <a:t>6. Deterministic Audit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100% Law-encoded checks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277856" y="1920240"/>
            <a:ext cx="1444752" cy="13716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351008" y="2011680"/>
            <a:ext cx="1298448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Segoe UI"/>
              </a:rPr>
              <a:t>7. Official Report
</a:t>
            </a:r>
          </a:p>
          <a:p>
            <a:r>
              <a:rPr sz="800">
                <a:solidFill>
                  <a:srgbClr val="0F172A"/>
                </a:solidFill>
                <a:latin typeface="Segoe UI"/>
              </a:rPr>
              <a:t>Score &amp; Section 36 Dossier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3520440"/>
            <a:ext cx="5440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36118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4F46E5"/>
                </a:solidFill>
                <a:latin typeface="Segoe UI"/>
              </a:rPr>
              <a:t>🤖 AI Extraction Layer (OCR.Space + Groq Llama-3)
</a:t>
            </a:r>
          </a:p>
          <a:p>
            <a:r>
              <a:rPr sz="950">
                <a:solidFill>
                  <a:srgbClr val="0F172A"/>
                </a:solidFill>
                <a:latin typeface="Segoe UI"/>
              </a:rPr>
              <a:t>• OCR.Space / Gemini Vision: Handles multi-font image text extraction in Hindi &amp; English.
• Groq Fast Inference: Parses noisy OCR lines into standard JSON fields without inventing facts.
• Failover Resilience: Deterministic regex fallback if Groq API hits rate limit (429-immunity).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63640" y="3520440"/>
            <a:ext cx="5440680" cy="2194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46520" y="3611880"/>
            <a:ext cx="50292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10B981"/>
                </a:solidFill>
                <a:latin typeface="Segoe UI"/>
              </a:rPr>
              <a:t>⚖️ Deterministic Legal Rule Engine (Official Standards)
</a:t>
            </a:r>
          </a:p>
          <a:p>
            <a:r>
              <a:rPr sz="950">
                <a:solidFill>
                  <a:srgbClr val="0F172A"/>
                </a:solidFill>
                <a:latin typeface="Segoe UI"/>
              </a:rPr>
              <a:t>• Legal Metrology (Packaged Commodities) Rules 2011 (Rule 6(1) a-g declarations).
• FSSAI Labelling &amp; Display Regulations 2020 (Veg/Non-veg logo, 14-digit license, nutrients).
• 100% Objective Scoring: Rules evaluate through strict Boolean and regex formulas.
• Zero Legal Hallucinations: No AI guesswork in statutory penalization.</a:t>
            </a:r>
          </a:p>
        </p:txBody>
      </p:sp>
      <p:sp>
        <p:nvSpPr>
          <p:cNvPr id="37" name="Rounded Rectangle 36">
            <a:hlinkClick action="ppaction://hlinksldjump" r:id="rId6"/>
          </p:cNvPr>
          <p:cNvSpPr/>
          <p:nvPr/>
        </p:nvSpPr>
        <p:spPr>
          <a:xfrm>
            <a:off x="8961120" y="585216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📊 View Compliance Dashboard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Audit Results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6 of 11</a:t>
            </a:r>
          </a:p>
        </p:txBody>
      </p:sp>
      <p:sp>
        <p:nvSpPr>
          <p:cNvPr id="15" name="Rounded Rectangle 14">
            <a:hlinkClick action="ppaction://hlinksldjump" r:id="rId5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38404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1234440"/>
            <a:ext cx="3291840" cy="14630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1325880"/>
            <a:ext cx="310896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59E0B"/>
                </a:solidFill>
                <a:latin typeface="Segoe UI"/>
              </a:rPr>
              <a:t>82%
</a:t>
            </a:r>
          </a:p>
          <a:p>
            <a:pPr algn="ctr"/>
            <a:r>
              <a:rPr sz="1100" b="1">
                <a:solidFill>
                  <a:srgbClr val="F59E0B"/>
                </a:solidFill>
                <a:latin typeface="Segoe UI"/>
              </a:rPr>
              <a:t>POTENTIAL NON-COMPLIANCE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2880360"/>
            <a:ext cx="1600200" cy="77724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2953512"/>
            <a:ext cx="1417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0B981"/>
                </a:solidFill>
                <a:latin typeface="Segoe UI"/>
              </a:rPr>
              <a:t>12
</a:t>
            </a:r>
          </a:p>
          <a:p>
            <a:r>
              <a:rPr sz="850">
                <a:solidFill>
                  <a:srgbClr val="0F172A"/>
                </a:solidFill>
                <a:latin typeface="Segoe UI"/>
              </a:rPr>
              <a:t>Passed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423160" y="2880360"/>
            <a:ext cx="1600200" cy="77724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514600" y="2953512"/>
            <a:ext cx="1417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EF4444"/>
                </a:solidFill>
                <a:latin typeface="Segoe UI"/>
              </a:rPr>
              <a:t>2
</a:t>
            </a:r>
          </a:p>
          <a:p>
            <a:r>
              <a:rPr sz="850">
                <a:solidFill>
                  <a:srgbClr val="0F172A"/>
                </a:solidFill>
                <a:latin typeface="Segoe UI"/>
              </a:rPr>
              <a:t>Violations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794760"/>
            <a:ext cx="1600200" cy="77724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867912"/>
            <a:ext cx="1417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59E0B"/>
                </a:solidFill>
                <a:latin typeface="Segoe UI"/>
              </a:rPr>
              <a:t>1
</a:t>
            </a:r>
          </a:p>
          <a:p>
            <a:r>
              <a:rPr sz="850">
                <a:solidFill>
                  <a:srgbClr val="0F172A"/>
                </a:solidFill>
                <a:latin typeface="Segoe UI"/>
              </a:rPr>
              <a:t>Needs Review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423160" y="3794760"/>
            <a:ext cx="1600200" cy="7772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514600" y="3867912"/>
            <a:ext cx="14173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64748B"/>
                </a:solidFill>
                <a:latin typeface="Segoe UI"/>
              </a:rPr>
              <a:t>0
</a:t>
            </a:r>
          </a:p>
          <a:p>
            <a:r>
              <a:rPr sz="850">
                <a:solidFill>
                  <a:srgbClr val="0F172A"/>
                </a:solidFill>
                <a:latin typeface="Segoe UI"/>
              </a:rPr>
              <a:t>Not Applicable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31520" y="4709160"/>
            <a:ext cx="3291840" cy="11887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" y="475488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1">
                <a:solidFill>
                  <a:srgbClr val="EF4444"/>
                </a:solidFill>
                <a:latin typeface="Segoe UI"/>
              </a:rPr>
              <a:t>⚖️ Section 36(1) LM Act Liability:
</a:t>
            </a:r>
            <a:r>
              <a:rPr sz="850">
                <a:solidFill>
                  <a:srgbClr val="0F172A"/>
                </a:solidFill>
                <a:latin typeface="Segoe UI"/>
              </a:rPr>
              <a:t>Missing manufacturing date renders commodity liable for First Offence Notice (₹25,000 compounding penalty).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480560" y="1051560"/>
            <a:ext cx="725393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4663440" y="1188720"/>
            <a:ext cx="6888175" cy="3657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0" y="1234440"/>
            <a:ext cx="6675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850" b="1">
                <a:solidFill>
                  <a:srgbClr val="0F172A"/>
                </a:solidFill>
                <a:latin typeface="Consolas"/>
              </a:rPr>
              <a:t>RULE ID        MANDATORY STATUTORY DECLARATION         OBSERVED VALUE              STATUS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1645920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0" y="1719072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LM-001       Name &amp; Description of Commodity        Annapurna Pure Wheat Atta     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663440" y="2212848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754880" y="2286000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LM-002       Net Quantity &amp; Units Declaration       5 kg (Metric Units Compliant) 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63440" y="2779776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0" y="2852928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LM-003       Maximum Retail Price (MRP incl. taxes) Rs. 240.00 (Inclusive of all taxes)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663440" y="3346704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754880" y="3419856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LM-004       Manufacturer &amp; Packer Address          Hind Consumer Pvt Ltd, Mumbai 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663440" y="3913632"/>
            <a:ext cx="6888175" cy="50292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54880" y="3986784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LM-005       Month &amp; Year of Manufacture            Missing specific calendar date </a:t>
            </a:r>
            <a:r>
              <a:rPr sz="950" b="1">
                <a:solidFill>
                  <a:srgbClr val="EF4444"/>
                </a:solidFill>
                <a:latin typeface="Segoe UI"/>
              </a:rPr>
              <a:t>✕ FAIL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663440" y="4480560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0" y="4553712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FSSAI-01     14-Digit FSSAI License Number          10019082000142 (Format valid) 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63440" y="5047488"/>
            <a:ext cx="6888175" cy="50292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54880" y="5120640"/>
            <a:ext cx="667512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0F172A"/>
                </a:solidFill>
                <a:latin typeface="Segoe UI"/>
              </a:rPr>
              <a:t>FSSAI-02     Vegetarian / Non-Vegetarian Logo       Green square with green dot found </a:t>
            </a:r>
            <a:r>
              <a:rPr sz="950" b="1">
                <a:solidFill>
                  <a:srgbClr val="10B981"/>
                </a:solidFill>
                <a:latin typeface="Segoe UI"/>
              </a:rPr>
              <a:t>✓ PASS</a:t>
            </a:r>
          </a:p>
        </p:txBody>
      </p:sp>
      <p:sp>
        <p:nvSpPr>
          <p:cNvPr id="47" name="Rounded Rectangle 46">
            <a:hlinkClick action="ppaction://hlinksldjump" r:id="rId9"/>
          </p:cNvPr>
          <p:cNvSpPr/>
          <p:nvPr/>
        </p:nvSpPr>
        <p:spPr>
          <a:xfrm>
            <a:off x="8961120" y="580644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📑 View Violation &amp; Complaint Report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Enforcement Report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7 of 11</a:t>
            </a:r>
          </a:p>
        </p:txBody>
      </p:sp>
      <p:sp>
        <p:nvSpPr>
          <p:cNvPr id="15" name="Rounded Rectangle 14">
            <a:hlinkClick action="ppaction://hlinksldjump" r:id="rId6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7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548640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" y="1234440"/>
            <a:ext cx="5120640" cy="109728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1280160"/>
            <a:ext cx="48463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b="1">
                <a:solidFill>
                  <a:srgbClr val="4F46E5"/>
                </a:solidFill>
                <a:latin typeface="Segoe UI"/>
              </a:rPr>
              <a:t>🏛️ GOVERNMENT OF INDIA • MINISTRY OF CONSUMER AFFAIRS
</a:t>
            </a:r>
            <a:r>
              <a:rPr sz="1150" b="1">
                <a:solidFill>
                  <a:srgbClr val="0F172A"/>
                </a:solidFill>
                <a:latin typeface="Segoe UI"/>
              </a:rPr>
              <a:t>STATUTORY LABELLING COMPLIANCE INSPECTION DOSSIER
</a:t>
            </a:r>
            <a:r>
              <a:rPr sz="850">
                <a:solidFill>
                  <a:srgbClr val="64748B"/>
                </a:solidFill>
                <a:latin typeface="Segoe UI"/>
              </a:rPr>
              <a:t>Dossier ID: #SIH26-CMP-84920 • Date: 12-Sept-2026 • Verified by CompliScan AI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2468880"/>
            <a:ext cx="5120640" cy="3383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PRODUCT AUDIT SUMMARY:
</a:t>
            </a:r>
            <a:r>
              <a:rPr sz="950">
                <a:solidFill>
                  <a:srgbClr val="64748B"/>
                </a:solidFill>
                <a:latin typeface="Segoe UI"/>
              </a:rPr>
              <a:t>• Product: Annapurna Pure Wheat Atta (5 kg)
• Category: Food Commodities (Legal Metrology Group 1)
• Overall Compliance Score: 82% (Potential Non-Compliance)
</a:t>
            </a:r>
            <a:r>
              <a:rPr sz="1050" b="1">
                <a:solidFill>
                  <a:srgbClr val="EF4444"/>
                </a:solidFill>
                <a:latin typeface="Segoe UI"/>
              </a:rPr>
              <a:t>IDENTIFIED STATUTORY VIOLATION:
</a:t>
            </a:r>
            <a:r>
              <a:rPr sz="950">
                <a:solidFill>
                  <a:srgbClr val="0F172A"/>
                </a:solidFill>
                <a:latin typeface="Segoe UI"/>
              </a:rPr>
              <a:t>• Violation: Missing Manufacturing Date on Principal Display Panel.
• Legal Citation: Rule 6(1)(d) of Legal Metrology (PC) Rules 2011.
• Liability: Section 36(1) of Legal Metrology Act 2009 (₹25,000 Notice).
• Recommended Action: Issue Statutory Show-Cause Notice to Manufacturer.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051560"/>
            <a:ext cx="5516575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0" y="1234440"/>
            <a:ext cx="512064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Segoe UI"/>
              </a:rPr>
              <a:t>🚨 1-Click Regulatory Enforcement Dispatch Workflow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1874519"/>
            <a:ext cx="5120640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1965959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72A"/>
                </a:solidFill>
                <a:latin typeface="Segoe UI"/>
              </a:rPr>
              <a:t>1. Evidence Auto-Packaging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Original packaging image, OCR bounding boxes, and timestamped audit logs are hashed for court admissibility.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0" y="3063239"/>
            <a:ext cx="5120640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37960" y="3154679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72A"/>
                </a:solidFill>
                <a:latin typeface="Segoe UI"/>
              </a:rPr>
              <a:t>2. Multi-Agency Forwarding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Direct API integration forwards dossier to National Consumer Helpline (1915), INGRAM, and State Metrology Controllers.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0" y="4251959"/>
            <a:ext cx="5120640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37960" y="4343399"/>
            <a:ext cx="484632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0F172A"/>
                </a:solidFill>
                <a:latin typeface="Segoe UI"/>
              </a:rPr>
              <a:t>3. Show-Cause Auto-Drafting
</a:t>
            </a:r>
          </a:p>
          <a:p>
            <a:r>
              <a:rPr sz="900">
                <a:solidFill>
                  <a:srgbClr val="64748B"/>
                </a:solidFill>
                <a:latin typeface="Segoe UI"/>
              </a:rPr>
              <a:t>Generates ready-to-sign Legal Notice citing Section 36(1) for enforcement officer dispatch.</a:t>
            </a:r>
          </a:p>
        </p:txBody>
      </p:sp>
      <p:sp>
        <p:nvSpPr>
          <p:cNvPr id="29" name="Rounded Rectangle 28">
            <a:hlinkClick action="ppaction://hlinksldjump" r:id="rId7"/>
          </p:cNvPr>
          <p:cNvSpPr/>
          <p:nvPr/>
        </p:nvSpPr>
        <p:spPr>
          <a:xfrm>
            <a:off x="6400800" y="5440680"/>
            <a:ext cx="5120640" cy="50292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Segoe UI"/>
              </a:rPr>
              <a:t>🚀 Submit Complaint to Enforcement Portal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Ministry Admin Command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8 of 11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10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2633472" cy="10515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10972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4F46E5"/>
                </a:solidFill>
                <a:latin typeface="Segoe UI"/>
              </a:rPr>
              <a:t>1,248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Total Audits Filed (+14% MoM)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337560" y="1051560"/>
            <a:ext cx="2633472" cy="1051560"/>
          </a:xfrm>
          <a:prstGeom prst="roundRect">
            <a:avLst/>
          </a:prstGeom>
          <a:solidFill>
            <a:srgbClr val="FEE2E2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474720" y="10972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EF4444"/>
                </a:solidFill>
                <a:latin typeface="Segoe UI"/>
              </a:rPr>
              <a:t>241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Critical Violations (Seizure Alerts)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1051560"/>
            <a:ext cx="2633472" cy="1051560"/>
          </a:xfrm>
          <a:prstGeom prst="roundRect">
            <a:avLst/>
          </a:prstGeom>
          <a:solidFill>
            <a:srgbClr val="FEF3C7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0972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F59E0B"/>
                </a:solidFill>
                <a:latin typeface="Segoe UI"/>
              </a:rPr>
              <a:t>89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Notices Dispatched (Sec 36 LM Act)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051560"/>
            <a:ext cx="2633472" cy="10515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097280"/>
            <a:ext cx="23774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1">
                <a:solidFill>
                  <a:srgbClr val="10B981"/>
                </a:solidFill>
                <a:latin typeface="Segoe UI"/>
              </a:rPr>
              <a:t>78.4%
</a:t>
            </a:r>
          </a:p>
          <a:p>
            <a:r>
              <a:rPr sz="850" b="1">
                <a:solidFill>
                  <a:srgbClr val="0F172A"/>
                </a:solidFill>
                <a:latin typeface="Segoe UI"/>
              </a:rPr>
              <a:t>National Avg Compliance (Target &gt;90%)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240280"/>
            <a:ext cx="5440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2331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Segoe UI"/>
              </a:rPr>
              <a:t>📊 Category-wise Violation Distribution (Live Telemetry)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28803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Packaged Food &amp; Snacks — 42% Violations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3172968"/>
            <a:ext cx="5029200" cy="182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40080" y="3172968"/>
            <a:ext cx="4114800" cy="182880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5661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Edible Oils &amp; Fats — 28% Violations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3858768"/>
            <a:ext cx="5029200" cy="182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3858768"/>
            <a:ext cx="2834640" cy="18288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2519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Cosmetics &amp; Personal Care — 18% Violations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544568"/>
            <a:ext cx="5029200" cy="182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0080" y="4544568"/>
            <a:ext cx="1828800" cy="1828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4937760"/>
            <a:ext cx="502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b="1">
                <a:solidFill>
                  <a:srgbClr val="0F172A"/>
                </a:solidFill>
                <a:latin typeface="Segoe UI"/>
              </a:rPr>
              <a:t>Household Cleaning Agents — 12% Violations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5230368"/>
            <a:ext cx="5029200" cy="1828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640080" y="5230368"/>
            <a:ext cx="1280160" cy="18288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6263640" y="2240280"/>
            <a:ext cx="5440680" cy="3840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46520" y="233172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Segoe UI"/>
              </a:rPr>
              <a:t>📑 Live Enforcement Registry (Recent Notices)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46520" y="2880360"/>
            <a:ext cx="507492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37960" y="2953512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F172A"/>
                </a:solidFill>
                <a:latin typeface="Segoe UI"/>
              </a:rPr>
              <a:t>#CMP-8492 | Annapurna Atta
</a:t>
            </a:r>
            <a:r>
              <a:rPr sz="850">
                <a:solidFill>
                  <a:srgbClr val="64748B"/>
                </a:solidFill>
                <a:latin typeface="Segoe UI"/>
              </a:rPr>
              <a:t>Issue: Missing Mfg Date  •  Action: </a:t>
            </a:r>
            <a:r>
              <a:rPr sz="850" b="1">
                <a:solidFill>
                  <a:srgbClr val="EF4444"/>
                </a:solidFill>
                <a:latin typeface="Segoe UI"/>
              </a:rPr>
              <a:t>High (Notice)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446520" y="3593592"/>
            <a:ext cx="507492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37960" y="3666744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F172A"/>
                </a:solidFill>
                <a:latin typeface="Segoe UI"/>
              </a:rPr>
              <a:t>#CMP-8488 | Kisan Sunflower Oil
</a:t>
            </a:r>
            <a:r>
              <a:rPr sz="850">
                <a:solidFill>
                  <a:srgbClr val="64748B"/>
                </a:solidFill>
                <a:latin typeface="Segoe UI"/>
              </a:rPr>
              <a:t>Issue: No Net Wt @ 30°C  •  Action: </a:t>
            </a:r>
            <a:r>
              <a:rPr sz="850" b="1">
                <a:solidFill>
                  <a:srgbClr val="EF4444"/>
                </a:solidFill>
                <a:latin typeface="Segoe UI"/>
              </a:rPr>
              <a:t>High (Notice)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446520" y="4306824"/>
            <a:ext cx="507492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537960" y="4379976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F172A"/>
                </a:solidFill>
                <a:latin typeface="Segoe UI"/>
              </a:rPr>
              <a:t>#CMP-8479 | Glow Herbal Cream
</a:t>
            </a:r>
            <a:r>
              <a:rPr sz="850">
                <a:solidFill>
                  <a:srgbClr val="64748B"/>
                </a:solidFill>
                <a:latin typeface="Segoe UI"/>
              </a:rPr>
              <a:t>Issue: Missing CDSCO Lic  •  Action: </a:t>
            </a:r>
            <a:r>
              <a:rPr sz="850" b="1">
                <a:solidFill>
                  <a:srgbClr val="F59E0B"/>
                </a:solidFill>
                <a:latin typeface="Segoe UI"/>
              </a:rPr>
              <a:t>Review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46520" y="5020056"/>
            <a:ext cx="5074920" cy="5943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537960" y="5093208"/>
            <a:ext cx="48920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50" b="1">
                <a:solidFill>
                  <a:srgbClr val="0F172A"/>
                </a:solidFill>
                <a:latin typeface="Segoe UI"/>
              </a:rPr>
              <a:t>#CMP-8462 | Fresh Choco Cookies
</a:t>
            </a:r>
            <a:r>
              <a:rPr sz="850">
                <a:solidFill>
                  <a:srgbClr val="64748B"/>
                </a:solidFill>
                <a:latin typeface="Segoe UI"/>
              </a:rPr>
              <a:t>Issue: Compliant Label  •  Action: </a:t>
            </a:r>
            <a:r>
              <a:rPr sz="850" b="1">
                <a:solidFill>
                  <a:srgbClr val="10B981"/>
                </a:solidFill>
                <a:latin typeface="Segoe UI"/>
              </a:rPr>
              <a:t>Pass</a:t>
            </a:r>
          </a:p>
        </p:txBody>
      </p:sp>
      <p:sp>
        <p:nvSpPr>
          <p:cNvPr id="49" name="Rounded Rectangle 48">
            <a:hlinkClick action="ppaction://hlinksldjump" r:id="rId10"/>
          </p:cNvPr>
          <p:cNvSpPr/>
          <p:nvPr/>
        </p:nvSpPr>
        <p:spPr>
          <a:xfrm>
            <a:off x="8961120" y="580644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🚀 Impact &amp; Future Roadmap 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Scalability &amp; Roadmap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9 of 11</a:t>
            </a:r>
          </a:p>
        </p:txBody>
      </p:sp>
      <p:sp>
        <p:nvSpPr>
          <p:cNvPr id="15" name="Rounded Rectangle 14">
            <a:hlinkClick action="ppaction://hlinksldjump" r:id="rId7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8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54406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1520" y="1234440"/>
            <a:ext cx="4892040" cy="45720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128016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10B981"/>
                </a:solidFill>
                <a:latin typeface="Segoe UI"/>
              </a:rPr>
              <a:t>✅ CURRENT MVP IMPACT (Delivered for SIH 2026)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1874519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" y="1947671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⚡ Sub-Second Label Audits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Reduces packaging inspection time from 20 minutes to under 3 seconds using dual OCR engines.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2862071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2935223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🛡️ Zero-Hallucination Legal Integrity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Deterministic rule engine guarantees objective legal compliance without AI guesswork.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" y="3849623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22775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📑 Instant Evidentiary Dossiers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Generates court-admissible PDF inspection certificates with Section 36 penalty estimations.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" y="4837175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10327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0F172A"/>
                </a:solidFill>
                <a:latin typeface="Segoe UI"/>
              </a:rPr>
              <a:t>🎙️ Multilingual Accessibility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Real-time Hindi &amp; English voice audio readout for non-English literate consumers.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1051560"/>
            <a:ext cx="5440680" cy="50292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537960" y="1234440"/>
            <a:ext cx="4892040" cy="4572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29400" y="1280160"/>
            <a:ext cx="46634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4F46E5"/>
                </a:solidFill>
                <a:latin typeface="Segoe UI"/>
              </a:rPr>
              <a:t>🔮 FUTURE SCOPE &amp; NATIONAL SCALING ROADMAP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37960" y="1874519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29400" y="1947671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Segoe UI"/>
              </a:rPr>
              <a:t>📱 Native Mobile App &amp; Barcode Scanner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Direct camera integration with GS1 DataBar and 14-digit FSSAI FoSCoS live database sync.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537960" y="2862071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29400" y="2935223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Segoe UI"/>
              </a:rPr>
              <a:t>🌐 22 Regional Indian Languages OCR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Expanding label parsing support to Tamil, Bengali, Telugu, Marathi, and Gujarati.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37960" y="3849623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29400" y="3922775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Segoe UI"/>
              </a:rPr>
              <a:t>🏛️ Automated Gazette Rule Synchronizer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Web-scraper that auto-updates regulatory rule DB whenever Ministry issues new Gazette notifications.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537960" y="4837175"/>
            <a:ext cx="4892040" cy="86868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29400" y="4910327"/>
            <a:ext cx="47091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1">
                <a:solidFill>
                  <a:srgbClr val="4F46E5"/>
                </a:solidFill>
                <a:latin typeface="Segoe UI"/>
              </a:rPr>
              <a:t>📶 Edge AI Offline Inspector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Enabling offline label inspection for field enforcement officers in remote rural markets.</a:t>
            </a:r>
          </a:p>
        </p:txBody>
      </p:sp>
      <p:sp>
        <p:nvSpPr>
          <p:cNvPr id="39" name="Rounded Rectangle 38">
            <a:hlinkClick action="ppaction://hlinksldjump" r:id="rId8"/>
          </p:cNvPr>
          <p:cNvSpPr/>
          <p:nvPr/>
        </p:nvSpPr>
        <p:spPr>
          <a:xfrm>
            <a:off x="8961120" y="5806440"/>
            <a:ext cx="2773375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Segoe UI"/>
              </a:rPr>
              <a:t>👥 Meet the Development Team ➔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UCET Hazaribagh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10 of 11</a:t>
            </a:r>
          </a:p>
        </p:txBody>
      </p:sp>
      <p:sp>
        <p:nvSpPr>
          <p:cNvPr id="15" name="Rounded Rectangle 14">
            <a:hlinkClick action="ppaction://hlinksldjump" r:id="rId9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10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1051560"/>
            <a:ext cx="11277295" cy="68580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1115568"/>
            <a:ext cx="108813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 b="1">
                <a:solidFill>
                  <a:srgbClr val="4F46E5"/>
                </a:solidFill>
                <a:latin typeface="Segoe UI"/>
              </a:rPr>
              <a:t>🏛️ University College of Engineering &amp; Technology (UCET), VBU, Hazaribagh
</a:t>
            </a:r>
            <a:r>
              <a:rPr sz="950">
                <a:solidFill>
                  <a:srgbClr val="64748B"/>
                </a:solidFill>
                <a:latin typeface="Segoe UI"/>
              </a:rPr>
              <a:t>Smart India Hackathon 2026 • Problem Statement ID: SIH26034 • Ministry of Consumer Affairs, Food &amp; Public Distribution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1874519"/>
            <a:ext cx="3687775" cy="192024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2057399"/>
            <a:ext cx="822960" cy="82296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19455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4F46E5"/>
                </a:solidFill>
                <a:latin typeface="Segoe UI"/>
              </a:rPr>
              <a:t>SK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201167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Segoe UI"/>
              </a:rPr>
              <a:t>Shubham Kumar
</a:t>
            </a:r>
          </a:p>
          <a:p>
            <a:r>
              <a:rPr sz="900" b="1">
                <a:solidFill>
                  <a:srgbClr val="4F46E5"/>
                </a:solidFill>
                <a:latin typeface="Segoe UI"/>
              </a:rPr>
              <a:t>Team Lead &amp; Full-Stack / AI Architect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B.Tech Information Technology
Session: 2024–27 (D2D)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51960" y="187451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434840" y="205739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219455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49240" y="201167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Segoe UI"/>
              </a:rPr>
              <a:t>Team Member 2
</a:t>
            </a:r>
          </a:p>
          <a:p>
            <a:r>
              <a:rPr sz="900" b="1">
                <a:solidFill>
                  <a:srgbClr val="64748B"/>
                </a:solidFill>
                <a:latin typeface="Segoe UI"/>
              </a:rPr>
              <a:t>AI / ML &amp; Computer Vision Specialist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0" y="187451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229600" y="205739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29600" y="219455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201167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Segoe UI"/>
              </a:rPr>
              <a:t>Team Member 3
</a:t>
            </a:r>
          </a:p>
          <a:p>
            <a:r>
              <a:rPr sz="900" b="1">
                <a:solidFill>
                  <a:srgbClr val="64748B"/>
                </a:solidFill>
                <a:latin typeface="Segoe UI"/>
              </a:rPr>
              <a:t>Backend &amp; Regulatory Rules Lead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97763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16051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429767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411479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Segoe UI"/>
              </a:rPr>
              <a:t>Team Member 4
</a:t>
            </a:r>
          </a:p>
          <a:p>
            <a:r>
              <a:rPr sz="900" b="1">
                <a:solidFill>
                  <a:srgbClr val="64748B"/>
                </a:solidFill>
                <a:latin typeface="Segoe UI"/>
              </a:rPr>
              <a:t>Frontend &amp; UI/UX Specialist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51960" y="397763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434840" y="416051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34840" y="429767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49240" y="411479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Segoe UI"/>
              </a:rPr>
              <a:t>Team Member 5
</a:t>
            </a:r>
          </a:p>
          <a:p>
            <a:r>
              <a:rPr sz="900" b="1">
                <a:solidFill>
                  <a:srgbClr val="64748B"/>
                </a:solidFill>
                <a:latin typeface="Segoe UI"/>
              </a:rPr>
              <a:t>Legal Research &amp; Verification Analyst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0" y="3977639"/>
            <a:ext cx="3687775" cy="19202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8229600" y="4160519"/>
            <a:ext cx="822960" cy="82296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229600" y="4297679"/>
            <a:ext cx="82296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4748B"/>
                </a:solidFill>
                <a:latin typeface="Segoe UI"/>
              </a:rPr>
              <a:t>M6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44000" y="4114799"/>
            <a:ext cx="246888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0F172A"/>
                </a:solidFill>
                <a:latin typeface="Segoe UI"/>
              </a:rPr>
              <a:t>Team Member 6
</a:t>
            </a:r>
          </a:p>
          <a:p>
            <a:r>
              <a:rPr sz="900" b="1">
                <a:solidFill>
                  <a:srgbClr val="64748B"/>
                </a:solidFill>
                <a:latin typeface="Segoe UI"/>
              </a:rPr>
              <a:t>QA, Testing &amp; Cloud DevOps
</a:t>
            </a:r>
          </a:p>
          <a:p>
            <a:r>
              <a:rPr sz="850">
                <a:solidFill>
                  <a:srgbClr val="64748B"/>
                </a:solidFill>
                <a:latin typeface="Segoe UI"/>
              </a:rPr>
              <a:t>B.Tech Engineering
Session: 2024–27</a:t>
            </a:r>
          </a:p>
        </p:txBody>
      </p:sp>
      <p:sp>
        <p:nvSpPr>
          <p:cNvPr id="43" name="Rounded Rectangle 42">
            <a:hlinkClick action="ppaction://hlinksldjump" r:id="rId10"/>
          </p:cNvPr>
          <p:cNvSpPr/>
          <p:nvPr/>
        </p:nvSpPr>
        <p:spPr>
          <a:xfrm>
            <a:off x="8961120" y="5897880"/>
            <a:ext cx="2773375" cy="3200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🎯 Summary &amp; Product Hub ➔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74320"/>
            <a:ext cx="11277295" cy="594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47472"/>
            <a:ext cx="29260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400">
                <a:solidFill>
                  <a:srgbClr val="4F46E5"/>
                </a:solidFill>
                <a:latin typeface="Segoe UI"/>
              </a:rPr>
              <a:t>🛡️ CompliScan </a:t>
            </a:r>
            <a:r>
              <a:rPr b="1" sz="1400">
                <a:solidFill>
                  <a:srgbClr val="10B981"/>
                </a:solidFill>
                <a:latin typeface="Segoe UI"/>
              </a:rPr>
              <a:t>AI</a:t>
            </a:r>
            <a:r>
              <a:rPr sz="1000">
                <a:solidFill>
                  <a:srgbClr val="64748B"/>
                </a:solidFill>
                <a:latin typeface="Segoe UI"/>
              </a:rPr>
              <a:t>  |  Thank You</a:t>
            </a:r>
          </a:p>
        </p:txBody>
      </p:sp>
      <p:sp>
        <p:nvSpPr>
          <p:cNvPr id="5" name="Rounded Rectangle 4">
            <a:hlinkClick action="ppaction://hlinksldjump" r:id="rId2"/>
          </p:cNvPr>
          <p:cNvSpPr/>
          <p:nvPr/>
        </p:nvSpPr>
        <p:spPr>
          <a:xfrm>
            <a:off x="393192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🏠 Home</a:t>
            </a:r>
          </a:p>
        </p:txBody>
      </p:sp>
      <p:sp>
        <p:nvSpPr>
          <p:cNvPr id="6" name="Rounded Rectangle 5">
            <a:hlinkClick action="ppaction://hlinksldjump" r:id="rId3"/>
          </p:cNvPr>
          <p:cNvSpPr/>
          <p:nvPr/>
        </p:nvSpPr>
        <p:spPr>
          <a:xfrm>
            <a:off x="495604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💡 Solution</a:t>
            </a:r>
          </a:p>
        </p:txBody>
      </p:sp>
      <p:sp>
        <p:nvSpPr>
          <p:cNvPr id="7" name="Rounded Rectangle 6">
            <a:hlinkClick action="ppaction://hlinksldjump" r:id="rId4"/>
          </p:cNvPr>
          <p:cNvSpPr/>
          <p:nvPr/>
        </p:nvSpPr>
        <p:spPr>
          <a:xfrm>
            <a:off x="5980176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🔍 Live Demo</a:t>
            </a:r>
          </a:p>
        </p:txBody>
      </p:sp>
      <p:sp>
        <p:nvSpPr>
          <p:cNvPr id="8" name="Rounded Rectangle 7">
            <a:hlinkClick action="ppaction://hlinksldjump" r:id="rId5"/>
          </p:cNvPr>
          <p:cNvSpPr/>
          <p:nvPr/>
        </p:nvSpPr>
        <p:spPr>
          <a:xfrm>
            <a:off x="7004304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🏛️ Architecture</a:t>
            </a:r>
          </a:p>
        </p:txBody>
      </p:sp>
      <p:sp>
        <p:nvSpPr>
          <p:cNvPr id="9" name="Rounded Rectangle 8">
            <a:hlinkClick action="ppaction://hlinksldjump" r:id="rId6"/>
          </p:cNvPr>
          <p:cNvSpPr/>
          <p:nvPr/>
        </p:nvSpPr>
        <p:spPr>
          <a:xfrm>
            <a:off x="8028432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📊 Dashboard</a:t>
            </a:r>
          </a:p>
        </p:txBody>
      </p:sp>
      <p:sp>
        <p:nvSpPr>
          <p:cNvPr id="10" name="Rounded Rectangle 9">
            <a:hlinkClick action="ppaction://hlinksldjump" r:id="rId7"/>
          </p:cNvPr>
          <p:cNvSpPr/>
          <p:nvPr/>
        </p:nvSpPr>
        <p:spPr>
          <a:xfrm>
            <a:off x="9052560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⚖️ Enforcement</a:t>
            </a:r>
          </a:p>
        </p:txBody>
      </p:sp>
      <p:sp>
        <p:nvSpPr>
          <p:cNvPr id="11" name="Rounded Rectangle 10">
            <a:hlinkClick action="ppaction://hlinksldjump" r:id="rId8"/>
          </p:cNvPr>
          <p:cNvSpPr/>
          <p:nvPr/>
        </p:nvSpPr>
        <p:spPr>
          <a:xfrm>
            <a:off x="10076688" y="384048"/>
            <a:ext cx="960120" cy="365760"/>
          </a:xfrm>
          <a:prstGeom prst="roundRect">
            <a:avLst/>
          </a:prstGeom>
          <a:solidFill>
            <a:srgbClr val="EEF2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4F46E5"/>
                </a:solidFill>
                <a:latin typeface="Segoe UI"/>
              </a:rPr>
              <a:t>👥 Team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6263640"/>
            <a:ext cx="11277295" cy="411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327648"/>
            <a:ext cx="6858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  <a:latin typeface="Segoe UI"/>
              </a:rPr>
              <a:t>Smart India Hackathon 2026 • Problem ID: SIH26034 • Ministry of Consumer Affairs • UCET Hazaribagh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0" y="6327648"/>
            <a:ext cx="13716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 b="1">
                <a:solidFill>
                  <a:srgbClr val="64748B"/>
                </a:solidFill>
                <a:latin typeface="Segoe UI"/>
              </a:rPr>
              <a:t>Slide 11 of 11</a:t>
            </a:r>
          </a:p>
        </p:txBody>
      </p:sp>
      <p:sp>
        <p:nvSpPr>
          <p:cNvPr id="15" name="Rounded Rectangle 14">
            <a:hlinkClick action="ppaction://hlinksldjump" r:id="rId8"/>
          </p:cNvPr>
          <p:cNvSpPr/>
          <p:nvPr/>
        </p:nvSpPr>
        <p:spPr>
          <a:xfrm>
            <a:off x="9921240" y="6309360"/>
            <a:ext cx="777240" cy="2926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0F172A"/>
                </a:solidFill>
                <a:latin typeface="Segoe UI"/>
              </a:rPr>
              <a:t>◀ Prev</a:t>
            </a:r>
          </a:p>
        </p:txBody>
      </p:sp>
      <p:sp>
        <p:nvSpPr>
          <p:cNvPr id="16" name="Rounded Rectangle 15">
            <a:hlinkClick action="ppaction://hlinksldjump" r:id="rId9"/>
          </p:cNvPr>
          <p:cNvSpPr/>
          <p:nvPr/>
        </p:nvSpPr>
        <p:spPr>
          <a:xfrm>
            <a:off x="10789920" y="6309360"/>
            <a:ext cx="777240" cy="292608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850" b="1">
                <a:solidFill>
                  <a:srgbClr val="FFFFFF"/>
                </a:solidFill>
                <a:latin typeface="Segoe UI"/>
              </a:rPr>
              <a:t>Next 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71600" y="1143000"/>
            <a:ext cx="9448495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352190" y="1417320"/>
            <a:ext cx="5486400" cy="365760"/>
          </a:xfrm>
          <a:prstGeom prst="roundRect">
            <a:avLst/>
          </a:prstGeom>
          <a:solidFill>
            <a:srgbClr val="ECFDF5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1463040"/>
            <a:ext cx="53949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10B981"/>
                </a:solidFill>
                <a:latin typeface="Segoe UI"/>
              </a:rPr>
              <a:t>🇮🇳 SMART INDIA HACKATHON 2026 • FINAL PRESENTATION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1920240"/>
            <a:ext cx="8534095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>
                <a:solidFill>
                  <a:srgbClr val="0F172A"/>
                </a:solidFill>
                <a:latin typeface="Segoe UI"/>
              </a:rPr>
              <a:t>CompliScan AI
</a:t>
            </a:r>
            <a:r>
              <a:rPr sz="1600" b="1">
                <a:solidFill>
                  <a:srgbClr val="4F46E5"/>
                </a:solidFill>
                <a:latin typeface="Segoe UI"/>
              </a:rPr>
              <a:t>Making Product Label Compliance Smarter, Faster &amp; Consumer-First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28800" y="3200400"/>
            <a:ext cx="85340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64748B"/>
                </a:solidFill>
                <a:latin typeface="Segoe UI"/>
              </a:rPr>
              <a:t>Empowering 1.4B Indian Citizens • Accelerating Regulatory Enforcement • Eradicating Packaging Fraud</a:t>
            </a:r>
          </a:p>
        </p:txBody>
      </p:sp>
      <p:sp>
        <p:nvSpPr>
          <p:cNvPr id="22" name="Rounded Rectangle 21">
            <a:hlinkClick action="ppaction://hlinksldjump" r:id="rId2"/>
          </p:cNvPr>
          <p:cNvSpPr/>
          <p:nvPr/>
        </p:nvSpPr>
        <p:spPr>
          <a:xfrm>
            <a:off x="1737360" y="4114800"/>
            <a:ext cx="16459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4F46E5"/>
                </a:solidFill>
                <a:latin typeface="Segoe UI"/>
              </a:rPr>
              <a:t>🏠 Back to Home</a:t>
            </a:r>
          </a:p>
        </p:txBody>
      </p:sp>
      <p:sp>
        <p:nvSpPr>
          <p:cNvPr id="23" name="Rounded Rectangle 22">
            <a:hlinkClick action="ppaction://hlinksldjump" r:id="rId4"/>
          </p:cNvPr>
          <p:cNvSpPr/>
          <p:nvPr/>
        </p:nvSpPr>
        <p:spPr>
          <a:xfrm>
            <a:off x="3520440" y="4114800"/>
            <a:ext cx="1645920" cy="54864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🔍 Live Scanner Demo</a:t>
            </a:r>
          </a:p>
        </p:txBody>
      </p:sp>
      <p:sp>
        <p:nvSpPr>
          <p:cNvPr id="24" name="Rounded Rectangle 23">
            <a:hlinkClick action="ppaction://hlinksldjump" r:id="rId5"/>
          </p:cNvPr>
          <p:cNvSpPr/>
          <p:nvPr/>
        </p:nvSpPr>
        <p:spPr>
          <a:xfrm>
            <a:off x="5303520" y="4114800"/>
            <a:ext cx="16459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0F172A"/>
                </a:solidFill>
                <a:latin typeface="Segoe UI"/>
              </a:rPr>
              <a:t>🏛️ Technical Architecture</a:t>
            </a:r>
          </a:p>
        </p:txBody>
      </p:sp>
      <p:sp>
        <p:nvSpPr>
          <p:cNvPr id="25" name="Rounded Rectangle 24">
            <a:hlinkClick action="ppaction://hlinksldjump" r:id="rId6"/>
          </p:cNvPr>
          <p:cNvSpPr/>
          <p:nvPr/>
        </p:nvSpPr>
        <p:spPr>
          <a:xfrm>
            <a:off x="7086600" y="4114800"/>
            <a:ext cx="1645920" cy="548640"/>
          </a:xfrm>
          <a:prstGeom prst="round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Segoe UI"/>
              </a:rPr>
              <a:t>📊 Compliance Dashboard</a:t>
            </a:r>
          </a:p>
        </p:txBody>
      </p:sp>
      <p:sp>
        <p:nvSpPr>
          <p:cNvPr id="26" name="Rounded Rectangle 25">
            <a:hlinkClick action="ppaction://hlinksldjump" r:id="rId7"/>
          </p:cNvPr>
          <p:cNvSpPr/>
          <p:nvPr/>
        </p:nvSpPr>
        <p:spPr>
          <a:xfrm>
            <a:off x="8869680" y="4114800"/>
            <a:ext cx="1645920" cy="5486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F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EF4444"/>
                </a:solidFill>
                <a:latin typeface="Segoe UI"/>
              </a:rPr>
              <a:t>⚖️ Enforcement Portal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28800" y="4937760"/>
            <a:ext cx="8534095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000" b="1">
                <a:solidFill>
                  <a:srgbClr val="4F46E5"/>
                </a:solidFill>
                <a:latin typeface="Segoe UI"/>
              </a:rPr>
              <a:t>University College of Engineering &amp; Technology (UCET), Hazaribagh • Problem ID: SIH26034
Thank You Judges &amp; Mentors for your valuable time!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