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slide" Target="slide2.xml"/><Relationship Id="rId14" Type="http://schemas.openxmlformats.org/officeDocument/2006/relationships/slide" Target="slide7.xml"/><Relationship Id="rId15" Type="http://schemas.openxmlformats.org/officeDocument/2006/relationships/slide" Target="slide9.xml"/><Relationship Id="rId16" Type="http://schemas.openxmlformats.org/officeDocument/2006/relationships/slide" Target="slide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slide" Target="slide2.xml"/><Relationship Id="rId14" Type="http://schemas.openxmlformats.org/officeDocument/2006/relationships/slide" Target="slide7.xml"/><Relationship Id="rId15" Type="http://schemas.openxmlformats.org/officeDocument/2006/relationships/slide" Target="slide9.xml"/><Relationship Id="rId16" Type="http://schemas.openxmlformats.org/officeDocument/2006/relationships/slide" Target="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slide" Target="slide2.xml"/><Relationship Id="rId14" Type="http://schemas.openxmlformats.org/officeDocument/2006/relationships/slide" Target="slide7.xml"/><Relationship Id="rId15" Type="http://schemas.openxmlformats.org/officeDocument/2006/relationships/slide" Target="slide9.xml"/><Relationship Id="rId16" Type="http://schemas.openxmlformats.org/officeDocument/2006/relationships/slide" Target="slide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slide" Target="slide2.xml"/><Relationship Id="rId14" Type="http://schemas.openxmlformats.org/officeDocument/2006/relationships/slide" Target="slide7.xml"/><Relationship Id="rId15" Type="http://schemas.openxmlformats.org/officeDocument/2006/relationships/slide" Target="slide9.xml"/><Relationship Id="rId16" Type="http://schemas.openxmlformats.org/officeDocument/2006/relationships/slide" Target="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slide" Target="slide2.xml"/><Relationship Id="rId14" Type="http://schemas.openxmlformats.org/officeDocument/2006/relationships/slide" Target="slide7.xml"/><Relationship Id="rId15" Type="http://schemas.openxmlformats.org/officeDocument/2006/relationships/slide" Target="slide9.xml"/><Relationship Id="rId16" Type="http://schemas.openxmlformats.org/officeDocument/2006/relationships/slide" Target="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slide" Target="slide2.xml"/><Relationship Id="rId14" Type="http://schemas.openxmlformats.org/officeDocument/2006/relationships/slide" Target="slide7.xml"/><Relationship Id="rId15" Type="http://schemas.openxmlformats.org/officeDocument/2006/relationships/slide" Target="slide9.xml"/><Relationship Id="rId16" Type="http://schemas.openxmlformats.org/officeDocument/2006/relationships/slide" Target="slide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slide" Target="slide2.xml"/><Relationship Id="rId14" Type="http://schemas.openxmlformats.org/officeDocument/2006/relationships/slide" Target="slide7.xml"/><Relationship Id="rId15" Type="http://schemas.openxmlformats.org/officeDocument/2006/relationships/slide" Target="slide9.xml"/><Relationship Id="rId16" Type="http://schemas.openxmlformats.org/officeDocument/2006/relationships/slide" Target="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slide" Target="slide2.xml"/><Relationship Id="rId14" Type="http://schemas.openxmlformats.org/officeDocument/2006/relationships/slide" Target="slide7.xml"/><Relationship Id="rId15" Type="http://schemas.openxmlformats.org/officeDocument/2006/relationships/slide" Target="slide9.xml"/><Relationship Id="rId16" Type="http://schemas.openxmlformats.org/officeDocument/2006/relationships/slide" Target="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slide" Target="slide2.xml"/><Relationship Id="rId14" Type="http://schemas.openxmlformats.org/officeDocument/2006/relationships/slide" Target="slide7.xml"/><Relationship Id="rId15" Type="http://schemas.openxmlformats.org/officeDocument/2006/relationships/slide" Target="slide9.xml"/><Relationship Id="rId16" Type="http://schemas.openxmlformats.org/officeDocument/2006/relationships/slide" Target="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slide" Target="slide2.xml"/><Relationship Id="rId14" Type="http://schemas.openxmlformats.org/officeDocument/2006/relationships/slide" Target="slide7.xml"/><Relationship Id="rId15" Type="http://schemas.openxmlformats.org/officeDocument/2006/relationships/slide" Target="slide9.xml"/><Relationship Id="rId16" Type="http://schemas.openxmlformats.org/officeDocument/2006/relationships/slide" Target="slide11.xml"/><Relationship Id="rId17" Type="http://schemas.openxmlformats.org/officeDocument/2006/relationships/image" Target="../media/image5.jpg"/><Relationship Id="rId18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slide" Target="slide2.xml"/><Relationship Id="rId14" Type="http://schemas.openxmlformats.org/officeDocument/2006/relationships/slide" Target="slide7.xml"/><Relationship Id="rId15" Type="http://schemas.openxmlformats.org/officeDocument/2006/relationships/slide" Target="slide9.xml"/><Relationship Id="rId16" Type="http://schemas.openxmlformats.org/officeDocument/2006/relationships/slide" Target="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4F46E5"/>
                </a:solidFill>
                <a:latin typeface="Segoe UI"/>
              </a:rPr>
              <a:t>CompliScan </a:t>
            </a:r>
            <a:r>
              <a:rPr b="1" sz="1300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National AI Compliance Portal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27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SIH 2026 • SIH26034 • Ministry of Consumer Affairs • UCET VBU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5577840" y="6327648"/>
            <a:ext cx="292608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590702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2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23620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656539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689457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722376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6</a:t>
            </a:r>
          </a:p>
        </p:txBody>
      </p:sp>
      <p:sp>
        <p:nvSpPr>
          <p:cNvPr id="25" name="Rounded Rectangle 24">
            <a:hlinkClick action="ppaction://hlinksldjump" r:id="rId14"/>
          </p:cNvPr>
          <p:cNvSpPr/>
          <p:nvPr/>
        </p:nvSpPr>
        <p:spPr>
          <a:xfrm>
            <a:off x="755294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788212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8</a:t>
            </a:r>
          </a:p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821131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9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854049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10</a:t>
            </a:r>
          </a:p>
        </p:txBody>
      </p:sp>
      <p:sp>
        <p:nvSpPr>
          <p:cNvPr id="29" name="Rounded Rectangle 28">
            <a:hlinkClick action="ppaction://hlinksldjump" r:id="rId16"/>
          </p:cNvPr>
          <p:cNvSpPr/>
          <p:nvPr/>
        </p:nvSpPr>
        <p:spPr>
          <a:xfrm>
            <a:off x="886968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11</a:t>
            </a:r>
          </a:p>
        </p:txBody>
      </p:sp>
      <p:sp>
        <p:nvSpPr>
          <p:cNvPr id="30" name="Rounded Rectangle 29">
            <a:hlinkClick action="ppaction://hlinksldjump" r:id="rId4"/>
          </p:cNvPr>
          <p:cNvSpPr/>
          <p:nvPr/>
        </p:nvSpPr>
        <p:spPr>
          <a:xfrm>
            <a:off x="9464040" y="631850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 Slide</a:t>
            </a:r>
          </a:p>
        </p:txBody>
      </p:sp>
      <p:sp>
        <p:nvSpPr>
          <p:cNvPr id="31" name="Rounded Rectangle 30">
            <a:hlinkClick action="ppaction://hlinksldjump" r:id="rId13"/>
          </p:cNvPr>
          <p:cNvSpPr/>
          <p:nvPr/>
        </p:nvSpPr>
        <p:spPr>
          <a:xfrm>
            <a:off x="10561320" y="6318504"/>
            <a:ext cx="1051560" cy="31089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Slide 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051560"/>
            <a:ext cx="69494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1234440"/>
            <a:ext cx="621792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1280160"/>
            <a:ext cx="868680" cy="475488"/>
          </a:xfrm>
          <a:prstGeom prst="rect">
            <a:avLst/>
          </a:prstGeom>
        </p:spPr>
      </p:pic>
      <p:pic>
        <p:nvPicPr>
          <p:cNvPr id="35" name="Picture 34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74519" y="1280160"/>
            <a:ext cx="868680" cy="47548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834640" y="1298448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Segoe UI"/>
              </a:rPr>
              <a:t>SMART INDIA HACKATHON 2026
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Problem ID: SIH26034 • Ministry of Consumer Affairs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196596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Scan. Verify. Comply.
</a:t>
            </a:r>
            <a:r>
              <a:rPr sz="1500" b="1">
                <a:solidFill>
                  <a:srgbClr val="4F46E5"/>
                </a:solidFill>
                <a:latin typeface="Segoe UI"/>
              </a:rPr>
              <a:t>AI-Powered Product Label Compliance &amp; Consumer Protection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06324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Empowering Indian citizens and regulatory enforcement officers with sub-second OCR extraction and deterministic regulatory validation against Legal Metrology Rules 2011 and FSSAI 2020 frameworks.</a:t>
            </a:r>
          </a:p>
        </p:txBody>
      </p:sp>
      <p:sp>
        <p:nvSpPr>
          <p:cNvPr id="39" name="Rounded Rectangle 38">
            <a:hlinkClick action="ppaction://hlinksldjump" r:id="rId6"/>
          </p:cNvPr>
          <p:cNvSpPr/>
          <p:nvPr/>
        </p:nvSpPr>
        <p:spPr>
          <a:xfrm>
            <a:off x="822960" y="4160520"/>
            <a:ext cx="1920240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🚀 Start Live Demo</a:t>
            </a:r>
          </a:p>
        </p:txBody>
      </p:sp>
      <p:sp>
        <p:nvSpPr>
          <p:cNvPr id="40" name="Rounded Rectangle 39">
            <a:hlinkClick action="ppaction://hlinksldjump" r:id="rId5"/>
          </p:cNvPr>
          <p:cNvSpPr/>
          <p:nvPr/>
        </p:nvSpPr>
        <p:spPr>
          <a:xfrm>
            <a:off x="2880360" y="416052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4F46E5"/>
                </a:solidFill>
                <a:latin typeface="Segoe UI"/>
              </a:rPr>
              <a:t>📖 Explore Solution</a:t>
            </a:r>
          </a:p>
        </p:txBody>
      </p:sp>
      <p:sp>
        <p:nvSpPr>
          <p:cNvPr id="41" name="Rounded Rectangle 40">
            <a:hlinkClick action="ppaction://hlinksldjump" r:id="rId7"/>
          </p:cNvPr>
          <p:cNvSpPr/>
          <p:nvPr/>
        </p:nvSpPr>
        <p:spPr>
          <a:xfrm>
            <a:off x="4937760" y="416052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F172A"/>
                </a:solidFill>
                <a:latin typeface="Segoe UI"/>
              </a:rPr>
              <a:t>🏛️ View Architecture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4892040"/>
            <a:ext cx="1920240" cy="9144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956048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F46E5"/>
                </a:solidFill>
                <a:latin typeface="Segoe UI"/>
              </a:rPr>
              <a:t>22+ Rules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Legal Metrology &amp; FSSAI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80360" y="4892040"/>
            <a:ext cx="1920240" cy="9144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1800" y="4956048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F46E5"/>
                </a:solidFill>
                <a:latin typeface="Segoe UI"/>
              </a:rPr>
              <a:t>100%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Deterministic Logic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37760" y="4892040"/>
            <a:ext cx="1920240" cy="9144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0" y="4956048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F46E5"/>
                </a:solidFill>
                <a:latin typeface="Segoe UI"/>
              </a:rPr>
              <a:t>&lt; 3 Sec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Dual OCR Pipeline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89520" y="1051560"/>
            <a:ext cx="4144975" cy="5029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863840" y="1325880"/>
            <a:ext cx="3596335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0" y="146304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onsolas"/>
              </a:rPr>
              <a:t>🎯 [AR FORENSIC INSPECTION HUD]
</a:t>
            </a:r>
            <a:r>
              <a:rPr sz="850">
                <a:solidFill>
                  <a:srgbClr val="E2E8F0"/>
                </a:solidFill>
                <a:latin typeface="Consolas"/>
              </a:rPr>
              <a:t>• Target: Packaged Food Commodity
• OCR Bounding Boxes: 6 Detected
• MRP &amp; Net Qty: Isolated ✓
• FSSAI Lic Number: Verified ✓
• Expiry / Mfg Date: Flagged ⚠️
Live Reticle Coordinates: X: 420, Y: 680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63840" y="4526280"/>
            <a:ext cx="3596335" cy="13258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4617720"/>
            <a:ext cx="3200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59E0B"/>
                </a:solidFill>
                <a:latin typeface="Segoe UI"/>
              </a:rPr>
              <a:t>Statutory Score: 82% (High Compliance)
</a:t>
            </a:r>
            <a:r>
              <a:rPr sz="850">
                <a:solidFill>
                  <a:srgbClr val="CBD5E1"/>
                </a:solidFill>
                <a:latin typeface="Segoe UI"/>
              </a:rPr>
              <a:t>Evaluation: Passed 12 of 14 mandatory labelling checks. Minor manufacturing date ambiguity flagged for inspection review.</a:t>
            </a:r>
          </a:p>
        </p:txBody>
      </p:sp>
    </p:spTree>
  </p:cSld>
  <p:clrMapOvr>
    <a:masterClrMapping/>
  </p:clrMapOvr>
  <p:transition spd="med" advClick="1">
    <p:push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4F46E5"/>
                </a:solidFill>
                <a:latin typeface="Segoe UI"/>
              </a:rPr>
              <a:t>CompliScan </a:t>
            </a:r>
            <a:r>
              <a:rPr b="1" sz="1300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Problem Context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27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SIH 2026 • SIH26034 • Ministry of Consumer Affairs • UCET VBU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557784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5907024" y="6327648"/>
            <a:ext cx="292608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23620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656539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689457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722376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6</a:t>
            </a:r>
          </a:p>
        </p:txBody>
      </p:sp>
      <p:sp>
        <p:nvSpPr>
          <p:cNvPr id="25" name="Rounded Rectangle 24">
            <a:hlinkClick action="ppaction://hlinksldjump" r:id="rId14"/>
          </p:cNvPr>
          <p:cNvSpPr/>
          <p:nvPr/>
        </p:nvSpPr>
        <p:spPr>
          <a:xfrm>
            <a:off x="755294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788212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8</a:t>
            </a:r>
          </a:p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821131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9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854049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10</a:t>
            </a:r>
          </a:p>
        </p:txBody>
      </p:sp>
      <p:sp>
        <p:nvSpPr>
          <p:cNvPr id="29" name="Rounded Rectangle 28">
            <a:hlinkClick action="ppaction://hlinksldjump" r:id="rId16"/>
          </p:cNvPr>
          <p:cNvSpPr/>
          <p:nvPr/>
        </p:nvSpPr>
        <p:spPr>
          <a:xfrm>
            <a:off x="886968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11</a:t>
            </a:r>
          </a:p>
        </p:txBody>
      </p:sp>
      <p:sp>
        <p:nvSpPr>
          <p:cNvPr id="30" name="Rounded Rectangle 29">
            <a:hlinkClick action="ppaction://hlinksldjump" r:id="rId4"/>
          </p:cNvPr>
          <p:cNvSpPr/>
          <p:nvPr/>
        </p:nvSpPr>
        <p:spPr>
          <a:xfrm>
            <a:off x="9464040" y="631850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 Slide</a:t>
            </a:r>
          </a:p>
        </p:txBody>
      </p:sp>
      <p:sp>
        <p:nvSpPr>
          <p:cNvPr id="31" name="Rounded Rectangle 30">
            <a:hlinkClick action="ppaction://hlinksldjump" r:id="rId5"/>
          </p:cNvPr>
          <p:cNvSpPr/>
          <p:nvPr/>
        </p:nvSpPr>
        <p:spPr>
          <a:xfrm>
            <a:off x="10561320" y="6318504"/>
            <a:ext cx="1051560" cy="31089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Slide 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051560"/>
            <a:ext cx="11277295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11155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F4444"/>
                </a:solidFill>
                <a:latin typeface="Segoe UI"/>
              </a:rPr>
              <a:t>⚠️ THE PROBLEM: Why Packaged Product Label Verification Fails at Scale
</a:t>
            </a:r>
            <a:r>
              <a:rPr sz="1050">
                <a:solidFill>
                  <a:srgbClr val="64748B"/>
                </a:solidFill>
                <a:latin typeface="Segoe UI"/>
              </a:rPr>
              <a:t>Millions of consumer commodities hit retail shelves daily with missing, deceptive, or non-compliant statutory declarations.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1965960"/>
            <a:ext cx="551657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7200" y="1965960"/>
            <a:ext cx="109728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2103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59E0B"/>
                </a:solidFill>
                <a:latin typeface="Segoe UI"/>
              </a:rPr>
              <a:t>1. Consumer Information Asymmetry
</a:t>
            </a:r>
          </a:p>
          <a:p>
            <a:r>
              <a:rPr sz="950">
                <a:solidFill>
                  <a:srgbClr val="0F172A"/>
                </a:solidFill>
                <a:latin typeface="Segoe UI"/>
              </a:rPr>
              <a:t>Everyday citizens cannot decipher complex statutory codes, E-numbers, font height minimums, or mandatory declaration positions required under Legal Metrology Rules.
</a:t>
            </a:r>
          </a:p>
          <a:p>
            <a:r>
              <a:rPr sz="900" b="1">
                <a:solidFill>
                  <a:srgbClr val="F59E0B"/>
                </a:solidFill>
                <a:latin typeface="Segoe UI"/>
              </a:rPr>
              <a:t>❌ 85%+ consumers cannot detect missing declarations manually.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1965960"/>
            <a:ext cx="551657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17920" y="1965960"/>
            <a:ext cx="109728" cy="1828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103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EF4444"/>
                </a:solidFill>
                <a:latin typeface="Segoe UI"/>
              </a:rPr>
              <a:t>2. Enforcement Inspection Bottleneck
</a:t>
            </a:r>
          </a:p>
          <a:p>
            <a:r>
              <a:rPr sz="950">
                <a:solidFill>
                  <a:srgbClr val="0F172A"/>
                </a:solidFill>
                <a:latin typeface="Segoe UI"/>
              </a:rPr>
              <a:t>Manual retail inspections by enforcement officers are time-consuming and cover less than 1% of products in circulating markets.
</a:t>
            </a:r>
          </a:p>
          <a:p>
            <a:r>
              <a:rPr sz="900" b="1">
                <a:solidFill>
                  <a:srgbClr val="EF4444"/>
                </a:solidFill>
                <a:latin typeface="Segoe UI"/>
              </a:rPr>
              <a:t>❌ Physical spot-audits cannot scale across 100M+ retail SKUs.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977639"/>
            <a:ext cx="551657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3977639"/>
            <a:ext cx="109728" cy="18288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11479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4F46E5"/>
                </a:solidFill>
                <a:latin typeface="Segoe UI"/>
              </a:rPr>
              <a:t>3. Complex Multi-Agency Regulations
</a:t>
            </a:r>
          </a:p>
          <a:p>
            <a:r>
              <a:rPr sz="950">
                <a:solidFill>
                  <a:srgbClr val="0F172A"/>
                </a:solidFill>
                <a:latin typeface="Segoe UI"/>
              </a:rPr>
              <a:t>Rules are fragmented across Legal Metrology Act 2009, FSSAI Labelling Regulations 2020, and CDSCO Cosmetic mandates with differing requirements.
</a:t>
            </a:r>
          </a:p>
          <a:p>
            <a:r>
              <a:rPr sz="900" b="1">
                <a:solidFill>
                  <a:srgbClr val="4F46E5"/>
                </a:solidFill>
                <a:latin typeface="Segoe UI"/>
              </a:rPr>
              <a:t>❌ Cross-regulatory confusion leads to rampant non-compliance.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977639"/>
            <a:ext cx="551657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17920" y="3977639"/>
            <a:ext cx="109728" cy="1828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11479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EF4444"/>
                </a:solidFill>
                <a:latin typeface="Segoe UI"/>
              </a:rPr>
              <a:t>4. Consumer Safety &amp; Financial Harm
</a:t>
            </a:r>
          </a:p>
          <a:p>
            <a:r>
              <a:rPr sz="950">
                <a:solidFill>
                  <a:srgbClr val="0F172A"/>
                </a:solidFill>
                <a:latin typeface="Segoe UI"/>
              </a:rPr>
              <a:t>Missing allergen warnings, deceptive net quantities, altered MRPs, and fake 14-digit FSSAI numbers directly compromise public health and consumer trust.
</a:t>
            </a:r>
          </a:p>
          <a:p>
            <a:r>
              <a:rPr sz="900" b="1">
                <a:solidFill>
                  <a:srgbClr val="EF4444"/>
                </a:solidFill>
                <a:latin typeface="Segoe UI"/>
              </a:rPr>
              <a:t>❌ Severe statutory liability under Section 36(1) of LM Act.</a:t>
            </a:r>
          </a:p>
        </p:txBody>
      </p:sp>
      <p:sp>
        <p:nvSpPr>
          <p:cNvPr id="46" name="Rounded Rectangle 45">
            <a:hlinkClick action="ppaction://hlinksldjump" r:id="rId5"/>
          </p:cNvPr>
          <p:cNvSpPr/>
          <p:nvPr/>
        </p:nvSpPr>
        <p:spPr>
          <a:xfrm>
            <a:off x="8961120" y="5852160"/>
            <a:ext cx="2773375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👉 See Our Solution (CompliScan AI)</a:t>
            </a:r>
          </a:p>
        </p:txBody>
      </p:sp>
    </p:spTree>
  </p:cSld>
  <p:clrMapOvr>
    <a:masterClrMapping/>
  </p:clrMapOvr>
  <p:transition spd="med" advClick="1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4F46E5"/>
                </a:solidFill>
                <a:latin typeface="Segoe UI"/>
              </a:rPr>
              <a:t>CompliScan </a:t>
            </a:r>
            <a:r>
              <a:rPr b="1" sz="1300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Platform Capabilities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27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SIH 2026 • SIH26034 • Ministry of Consumer Affairs • UCET VBU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557784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590702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2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236208" y="6327648"/>
            <a:ext cx="292608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656539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689457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722376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6</a:t>
            </a:r>
          </a:p>
        </p:txBody>
      </p:sp>
      <p:sp>
        <p:nvSpPr>
          <p:cNvPr id="25" name="Rounded Rectangle 24">
            <a:hlinkClick action="ppaction://hlinksldjump" r:id="rId14"/>
          </p:cNvPr>
          <p:cNvSpPr/>
          <p:nvPr/>
        </p:nvSpPr>
        <p:spPr>
          <a:xfrm>
            <a:off x="755294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788212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8</a:t>
            </a:r>
          </a:p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821131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9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854049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10</a:t>
            </a:r>
          </a:p>
        </p:txBody>
      </p:sp>
      <p:sp>
        <p:nvSpPr>
          <p:cNvPr id="29" name="Rounded Rectangle 28">
            <a:hlinkClick action="ppaction://hlinksldjump" r:id="rId16"/>
          </p:cNvPr>
          <p:cNvSpPr/>
          <p:nvPr/>
        </p:nvSpPr>
        <p:spPr>
          <a:xfrm>
            <a:off x="886968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11</a:t>
            </a:r>
          </a:p>
        </p:txBody>
      </p:sp>
      <p:sp>
        <p:nvSpPr>
          <p:cNvPr id="30" name="Rounded Rectangle 29">
            <a:hlinkClick action="ppaction://hlinksldjump" r:id="rId13"/>
          </p:cNvPr>
          <p:cNvSpPr/>
          <p:nvPr/>
        </p:nvSpPr>
        <p:spPr>
          <a:xfrm>
            <a:off x="9464040" y="631850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 Slide</a:t>
            </a:r>
          </a:p>
        </p:txBody>
      </p:sp>
      <p:sp>
        <p:nvSpPr>
          <p:cNvPr id="31" name="Rounded Rectangle 30">
            <a:hlinkClick action="ppaction://hlinksldjump" r:id="rId6"/>
          </p:cNvPr>
          <p:cNvSpPr/>
          <p:nvPr/>
        </p:nvSpPr>
        <p:spPr>
          <a:xfrm>
            <a:off x="10561320" y="6318504"/>
            <a:ext cx="1051560" cy="31089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Slide 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1115568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4F46E5"/>
                </a:solidFill>
                <a:latin typeface="Segoe UI"/>
              </a:rPr>
              <a:t>THE COMPLISCAN AI SOLUTION: 3-Step Automated Verification Pipeline
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1444752"/>
            <a:ext cx="3383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148132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Step 1: Upload Image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Capture packaging front, back, or nutrition panel via camera or upload.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1444752"/>
            <a:ext cx="3383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148132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Step 2: AI Parsing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Dual-Engine OCR extracts text; Groq LLM normalizes into structured JSON.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0" y="1444752"/>
            <a:ext cx="338328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148132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Step 3: Rule Audit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Deterministic Engine validates against 22+ statutory rules &amp; outputs PDF dossier.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514600"/>
            <a:ext cx="3687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2651760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4F46E5"/>
                </a:solidFill>
                <a:latin typeface="Segoe UI"/>
              </a:rPr>
              <a:t>🔍 Dual-Engine OCR
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Combines Tesseract &amp; Gemini Vision for Hindi and English label character extraction.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51960" y="2514600"/>
            <a:ext cx="3687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2651760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4F46E5"/>
                </a:solidFill>
                <a:latin typeface="Segoe UI"/>
              </a:rPr>
              <a:t>🤖 AI Structuring Assistant
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Structures unorganized OCR tokens into normalized JSON key-value pairs without hallucinations.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14600"/>
            <a:ext cx="3687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2651760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0B981"/>
                </a:solidFill>
                <a:latin typeface="Segoe UI"/>
              </a:rPr>
              <a:t>⚖️ Deterministic Law Engine
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100% rule-based deterministic evaluation against Legal Metrology &amp; FSSAI statutory regulations.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343400"/>
            <a:ext cx="3687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480560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0B981"/>
                </a:solidFill>
                <a:latin typeface="Segoe UI"/>
              </a:rPr>
              <a:t>📊 0–100% Compliance Score
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Clear quantitative metric indicating legal packaging compliance and consumer safety risk.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51960" y="4343400"/>
            <a:ext cx="3687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4480560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59E0B"/>
                </a:solidFill>
                <a:latin typeface="Segoe UI"/>
              </a:rPr>
              <a:t>🚨 Section 36 Penalty Estimator
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Automated financial liability calculation for manufacturer non-compliance under LM Act 2009.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4343400"/>
            <a:ext cx="3687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4480560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59E0B"/>
                </a:solidFill>
                <a:latin typeface="Segoe UI"/>
              </a:rPr>
              <a:t>📑 1-Click Complaint Dispatch
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Automated formal complaint generation and forwarding to National Consumer Helpline 1915.</a:t>
            </a:r>
          </a:p>
        </p:txBody>
      </p:sp>
      <p:sp>
        <p:nvSpPr>
          <p:cNvPr id="52" name="Rounded Rectangle 51">
            <a:hlinkClick action="ppaction://hlinksldjump" r:id="rId6"/>
          </p:cNvPr>
          <p:cNvSpPr/>
          <p:nvPr/>
        </p:nvSpPr>
        <p:spPr>
          <a:xfrm>
            <a:off x="8961120" y="5806440"/>
            <a:ext cx="2773375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▶ Try Live Scan Simulation</a:t>
            </a:r>
          </a:p>
        </p:txBody>
      </p:sp>
    </p:spTree>
  </p:cSld>
  <p:clrMapOvr>
    <a:masterClrMapping/>
  </p:clrMapOvr>
  <p:transition spd="med" advClick="1">
    <p:push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4F46E5"/>
                </a:solidFill>
                <a:latin typeface="Segoe UI"/>
              </a:rPr>
              <a:t>CompliScan </a:t>
            </a:r>
            <a:r>
              <a:rPr b="1" sz="1300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Scanning Interface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27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SIH 2026 • SIH26034 • Ministry of Consumer Affairs • UCET VBU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557784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590702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2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23620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6565392" y="6327648"/>
            <a:ext cx="292608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689457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722376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6</a:t>
            </a:r>
          </a:p>
        </p:txBody>
      </p:sp>
      <p:sp>
        <p:nvSpPr>
          <p:cNvPr id="25" name="Rounded Rectangle 24">
            <a:hlinkClick action="ppaction://hlinksldjump" r:id="rId14"/>
          </p:cNvPr>
          <p:cNvSpPr/>
          <p:nvPr/>
        </p:nvSpPr>
        <p:spPr>
          <a:xfrm>
            <a:off x="755294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788212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8</a:t>
            </a:r>
          </a:p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821131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9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854049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10</a:t>
            </a:r>
          </a:p>
        </p:txBody>
      </p:sp>
      <p:sp>
        <p:nvSpPr>
          <p:cNvPr id="29" name="Rounded Rectangle 28">
            <a:hlinkClick action="ppaction://hlinksldjump" r:id="rId16"/>
          </p:cNvPr>
          <p:cNvSpPr/>
          <p:nvPr/>
        </p:nvSpPr>
        <p:spPr>
          <a:xfrm>
            <a:off x="886968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11</a:t>
            </a:r>
          </a:p>
        </p:txBody>
      </p:sp>
      <p:sp>
        <p:nvSpPr>
          <p:cNvPr id="30" name="Rounded Rectangle 29">
            <a:hlinkClick action="ppaction://hlinksldjump" r:id="rId5"/>
          </p:cNvPr>
          <p:cNvSpPr/>
          <p:nvPr/>
        </p:nvSpPr>
        <p:spPr>
          <a:xfrm>
            <a:off x="9464040" y="631850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 Slide</a:t>
            </a:r>
          </a:p>
        </p:txBody>
      </p:sp>
      <p:sp>
        <p:nvSpPr>
          <p:cNvPr id="31" name="Rounded Rectangle 30">
            <a:hlinkClick action="ppaction://hlinksldjump" r:id="rId7"/>
          </p:cNvPr>
          <p:cNvSpPr/>
          <p:nvPr/>
        </p:nvSpPr>
        <p:spPr>
          <a:xfrm>
            <a:off x="10561320" y="6318504"/>
            <a:ext cx="1051560" cy="31089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Slide 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051560"/>
            <a:ext cx="4572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11430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Segoe UI"/>
              </a:rPr>
              <a:t>📸 Uploaded Label: Packaged Wheat Flour (5kg)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1600200"/>
            <a:ext cx="4023360" cy="3657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1828800"/>
            <a:ext cx="2926080" cy="640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1874519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Consolas"/>
              </a:rPr>
              <a:t>🏷️ BRAND: Annapurna Pure Atta (Rule 6(1)(a) PASS)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2606040"/>
            <a:ext cx="1828800" cy="548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265176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0B981"/>
                </a:solidFill>
                <a:latin typeface="Consolas"/>
              </a:rPr>
              <a:t>⚖️ Net Qty: 5 kg
(Rule 6(1)(b) PASS)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34640" y="2606040"/>
            <a:ext cx="1737360" cy="548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360" y="2651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0B981"/>
                </a:solidFill>
                <a:latin typeface="Consolas"/>
              </a:rPr>
              <a:t>💵 MRP: Rs. 240.00
(Rule 6(1)(e) PASS)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3291840"/>
            <a:ext cx="3566160" cy="59436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333756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EF4444"/>
                </a:solidFill>
                <a:latin typeface="Consolas"/>
              </a:rPr>
              <a:t>⚠️ MFG DATE: 'BEST BEFORE 4 MONTHS' (No Date Specified)
Rule 6(1)(d) VIOLATION DETECTED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4023360"/>
            <a:ext cx="3566160" cy="5943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406908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59E0B"/>
                </a:solidFill>
                <a:latin typeface="Consolas"/>
              </a:rPr>
              <a:t>🔍 FSSAI LIC: 10019082000142 (14 Digits Detected)
Checksum Check: Valid format • Needs DB sync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394960"/>
            <a:ext cx="40233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🔍 Holographic AR Reticle Active (X: 380, Y: 520)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12080" y="1051560"/>
            <a:ext cx="652241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94960" y="1234440"/>
            <a:ext cx="6156655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32120" y="1298448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STAGE 1: Dual-Engine OCR Raw Extraction (Gemini + Tesseract)
</a:t>
            </a:r>
            <a:r>
              <a:rPr sz="850">
                <a:solidFill>
                  <a:srgbClr val="64748B"/>
                </a:solidFill>
                <a:latin typeface="Consolas"/>
              </a:rPr>
              <a:t>RAW TOKENS: [ANNAPURNA PURE ATTA] [NET QTY 5kg] [MRP Rs 240.00 INCL OF ALL TAXES] [PKD 08/26] [BEST BEFORE 4 MONTHS FROM PACKAGING] [FSSAI LIC NO 10019082000142] [MKT BY HIND CONSUMER PVT LTD MUMBAI 400001]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94960" y="2880360"/>
            <a:ext cx="6156655" cy="1783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32120" y="2944368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0B981"/>
                </a:solidFill>
                <a:latin typeface="Segoe UI"/>
              </a:rPr>
              <a:t>STAGE 2: Groq Structured JSON Normalization (No Legal Hallucinations)
</a:t>
            </a:r>
            <a:r>
              <a:rPr sz="800">
                <a:solidFill>
                  <a:srgbClr val="E2E8F0"/>
                </a:solidFill>
                <a:latin typeface="Consolas"/>
              </a:rPr>
              <a:t>{
  "productName": "Annapurna Pure Atta",
  "category": "Food",
  "netQuantity": "5 kg",
  "mrp": "Rs. 240.00",
  "mfgDate": null, // Flagged: Missing specific calendar date
  "fssaiNumber": "10019082000142"
}</a:t>
            </a:r>
          </a:p>
        </p:txBody>
      </p:sp>
      <p:sp>
        <p:nvSpPr>
          <p:cNvPr id="51" name="Rounded Rectangle 50">
            <a:hlinkClick action="ppaction://hlinksldjump" r:id="rId7"/>
          </p:cNvPr>
          <p:cNvSpPr/>
          <p:nvPr/>
        </p:nvSpPr>
        <p:spPr>
          <a:xfrm>
            <a:off x="5394960" y="4892040"/>
            <a:ext cx="6156655" cy="5486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⚖️ Analyze Compliance (Run Deterministic Rule Engine) ➔</a:t>
            </a:r>
          </a:p>
        </p:txBody>
      </p:sp>
    </p:spTree>
  </p:cSld>
  <p:clrMapOvr>
    <a:masterClrMapping/>
  </p:clrMapOvr>
  <p:transition spd="med" advClick="1">
    <p:push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4F46E5"/>
                </a:solidFill>
                <a:latin typeface="Segoe UI"/>
              </a:rPr>
              <a:t>CompliScan </a:t>
            </a:r>
            <a:r>
              <a:rPr b="1" sz="1300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AI vs Law Separation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27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SIH 2026 • SIH26034 • Ministry of Consumer Affairs • UCET VBU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557784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590702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2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23620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656539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6894576" y="6327648"/>
            <a:ext cx="292608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722376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6</a:t>
            </a:r>
          </a:p>
        </p:txBody>
      </p:sp>
      <p:sp>
        <p:nvSpPr>
          <p:cNvPr id="25" name="Rounded Rectangle 24">
            <a:hlinkClick action="ppaction://hlinksldjump" r:id="rId14"/>
          </p:cNvPr>
          <p:cNvSpPr/>
          <p:nvPr/>
        </p:nvSpPr>
        <p:spPr>
          <a:xfrm>
            <a:off x="755294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788212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8</a:t>
            </a:r>
          </a:p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821131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9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854049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10</a:t>
            </a:r>
          </a:p>
        </p:txBody>
      </p:sp>
      <p:sp>
        <p:nvSpPr>
          <p:cNvPr id="29" name="Rounded Rectangle 28">
            <a:hlinkClick action="ppaction://hlinksldjump" r:id="rId16"/>
          </p:cNvPr>
          <p:cNvSpPr/>
          <p:nvPr/>
        </p:nvSpPr>
        <p:spPr>
          <a:xfrm>
            <a:off x="886968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11</a:t>
            </a:r>
          </a:p>
        </p:txBody>
      </p:sp>
      <p:sp>
        <p:nvSpPr>
          <p:cNvPr id="30" name="Rounded Rectangle 29">
            <a:hlinkClick action="ppaction://hlinksldjump" r:id="rId6"/>
          </p:cNvPr>
          <p:cNvSpPr/>
          <p:nvPr/>
        </p:nvSpPr>
        <p:spPr>
          <a:xfrm>
            <a:off x="9464040" y="631850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 Slide</a:t>
            </a:r>
          </a:p>
        </p:txBody>
      </p:sp>
      <p:sp>
        <p:nvSpPr>
          <p:cNvPr id="31" name="Rounded Rectangle 30">
            <a:hlinkClick action="ppaction://hlinksldjump" r:id="rId8"/>
          </p:cNvPr>
          <p:cNvSpPr/>
          <p:nvPr/>
        </p:nvSpPr>
        <p:spPr>
          <a:xfrm>
            <a:off x="10561320" y="6318504"/>
            <a:ext cx="1051560" cy="31089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Slide 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051560"/>
            <a:ext cx="11277295" cy="685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11155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0B981"/>
                </a:solidFill>
                <a:latin typeface="Segoe UI"/>
              </a:rPr>
              <a:t>CORE ARCHITECTURAL PRINCIPLE: AI Extracts Text • Manually Defined Rule Engine Decides Legality
</a:t>
            </a:r>
            <a:r>
              <a:rPr sz="950">
                <a:solidFill>
                  <a:srgbClr val="64748B"/>
                </a:solidFill>
                <a:latin typeface="Segoe UI"/>
              </a:rPr>
              <a:t>Groq is strictly an NLP extraction accelerator. Final legal compliance is computed 100% deterministically against official Gazette rules.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1920240"/>
            <a:ext cx="1444752" cy="1371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1. Input Image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Packaging capture / upload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93976" y="1920240"/>
            <a:ext cx="1444752" cy="1371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67128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2. Dual OCR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Tesseract &amp; Gemini Vision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30752" y="1920240"/>
            <a:ext cx="1444752" cy="1371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03904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Segoe UI"/>
              </a:rPr>
              <a:t>3. Groq JSON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Normalizes key-value schema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67528" y="1920240"/>
            <a:ext cx="1444752" cy="1371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0680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Segoe UI"/>
              </a:rPr>
              <a:t>4. Category Engine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Maps Food / Oil / Cosmetics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04304" y="1920240"/>
            <a:ext cx="1444752" cy="1371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77456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Segoe UI"/>
              </a:rPr>
              <a:t>5. Rule Database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Legal Metrology &amp; FSSAI Acts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41080" y="1920240"/>
            <a:ext cx="1444752" cy="1371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14232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Segoe UI"/>
              </a:rPr>
              <a:t>6. Deterministic Audit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100% Law-encoded checks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77856" y="1920240"/>
            <a:ext cx="1444752" cy="1371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51008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7. Official Report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Score &amp; Section 36 Dossier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520440"/>
            <a:ext cx="5440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36118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4F46E5"/>
                </a:solidFill>
                <a:latin typeface="Segoe UI"/>
              </a:rPr>
              <a:t>🤖 AI Extraction Layer (OCR.Space + Groq Llama-3)
</a:t>
            </a:r>
          </a:p>
          <a:p>
            <a:r>
              <a:rPr sz="900">
                <a:solidFill>
                  <a:srgbClr val="0F172A"/>
                </a:solidFill>
                <a:latin typeface="Segoe UI"/>
              </a:rPr>
              <a:t>• OCR.Space / Gemini Vision: Handles multi-font image text extraction in Hindi &amp; English.
• Groq Fast Inference: Parses noisy OCR lines into standard JSON fields without inventing facts.
• Failover Resilience: Deterministic regex fallback if Groq API hits rate limit (429-immunity).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3520440"/>
            <a:ext cx="5440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6118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0B981"/>
                </a:solidFill>
                <a:latin typeface="Segoe UI"/>
              </a:rPr>
              <a:t>⚖️ Deterministic Legal Rule Engine (Official Standards)
</a:t>
            </a:r>
          </a:p>
          <a:p>
            <a:r>
              <a:rPr sz="900">
                <a:solidFill>
                  <a:srgbClr val="0F172A"/>
                </a:solidFill>
                <a:latin typeface="Segoe UI"/>
              </a:rPr>
              <a:t>• Legal Metrology (Packaged Commodities) Rules 2011 (Rule 6(1) a-g declarations).
• FSSAI Labelling &amp; Display Regulations 2020 (Veg/Non-veg logo, 14-digit license, nutrients).
• 100% Objective Scoring: Rules evaluate through strict Boolean and regex formulas.
• Zero Legal Hallucinations: No AI guesswork in statutory penalization.</a:t>
            </a:r>
          </a:p>
        </p:txBody>
      </p:sp>
      <p:sp>
        <p:nvSpPr>
          <p:cNvPr id="52" name="Rounded Rectangle 51">
            <a:hlinkClick action="ppaction://hlinksldjump" r:id="rId8"/>
          </p:cNvPr>
          <p:cNvSpPr/>
          <p:nvPr/>
        </p:nvSpPr>
        <p:spPr>
          <a:xfrm>
            <a:off x="8961120" y="5852160"/>
            <a:ext cx="2773375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📊 View Compliance Dashboard</a:t>
            </a:r>
          </a:p>
        </p:txBody>
      </p:sp>
    </p:spTree>
  </p:cSld>
  <p:clrMapOvr>
    <a:masterClrMapping/>
  </p:clrMapOvr>
  <p:transition spd="med" advClick="1">
    <p:push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4F46E5"/>
                </a:solidFill>
                <a:latin typeface="Segoe UI"/>
              </a:rPr>
              <a:t>CompliScan </a:t>
            </a:r>
            <a:r>
              <a:rPr b="1" sz="1300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Audit Results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27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SIH 2026 • SIH26034 • Ministry of Consumer Affairs • UCET VBU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557784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590702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2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23620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656539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689457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7223760" y="6327648"/>
            <a:ext cx="292608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5" name="Rounded Rectangle 24">
            <a:hlinkClick action="ppaction://hlinksldjump" r:id="rId14"/>
          </p:cNvPr>
          <p:cNvSpPr/>
          <p:nvPr/>
        </p:nvSpPr>
        <p:spPr>
          <a:xfrm>
            <a:off x="755294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788212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8</a:t>
            </a:r>
          </a:p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821131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9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854049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10</a:t>
            </a:r>
          </a:p>
        </p:txBody>
      </p:sp>
      <p:sp>
        <p:nvSpPr>
          <p:cNvPr id="29" name="Rounded Rectangle 28">
            <a:hlinkClick action="ppaction://hlinksldjump" r:id="rId16"/>
          </p:cNvPr>
          <p:cNvSpPr/>
          <p:nvPr/>
        </p:nvSpPr>
        <p:spPr>
          <a:xfrm>
            <a:off x="886968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11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9464040" y="631850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 Slide</a:t>
            </a:r>
          </a:p>
        </p:txBody>
      </p:sp>
      <p:sp>
        <p:nvSpPr>
          <p:cNvPr id="31" name="Rounded Rectangle 30">
            <a:hlinkClick action="ppaction://hlinksldjump" r:id="rId14"/>
          </p:cNvPr>
          <p:cNvSpPr/>
          <p:nvPr/>
        </p:nvSpPr>
        <p:spPr>
          <a:xfrm>
            <a:off x="10561320" y="6318504"/>
            <a:ext cx="1051560" cy="31089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Slide 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051560"/>
            <a:ext cx="38404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1234440"/>
            <a:ext cx="3291840" cy="1463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132588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59E0B"/>
                </a:solidFill>
                <a:latin typeface="Segoe UI"/>
              </a:rPr>
              <a:t>82%
</a:t>
            </a:r>
          </a:p>
          <a:p>
            <a:pPr algn="ctr"/>
            <a:r>
              <a:rPr sz="1050" b="1">
                <a:solidFill>
                  <a:srgbClr val="F59E0B"/>
                </a:solidFill>
                <a:latin typeface="Segoe UI"/>
              </a:rPr>
              <a:t>POTENTIAL NON-COMPLIANCE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2880360"/>
            <a:ext cx="160020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953512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0B981"/>
                </a:solidFill>
                <a:latin typeface="Segoe UI"/>
              </a:rPr>
              <a:t>12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Passed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23160" y="2880360"/>
            <a:ext cx="1600200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4600" y="2953512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F4444"/>
                </a:solidFill>
                <a:latin typeface="Segoe UI"/>
              </a:rPr>
              <a:t>2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Violations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794760"/>
            <a:ext cx="160020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867912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9E0B"/>
                </a:solidFill>
                <a:latin typeface="Segoe UI"/>
              </a:rPr>
              <a:t>1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Needs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23160" y="3794760"/>
            <a:ext cx="16002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3867912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4748B"/>
                </a:solidFill>
                <a:latin typeface="Segoe UI"/>
              </a:rPr>
              <a:t>0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Not Applicable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709160"/>
            <a:ext cx="3291840" cy="11887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754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EF4444"/>
                </a:solidFill>
                <a:latin typeface="Segoe UI"/>
              </a:rPr>
              <a:t>⚖️ Section 36(1) LM Act Liability:
</a:t>
            </a:r>
            <a:r>
              <a:rPr sz="850">
                <a:solidFill>
                  <a:srgbClr val="0F172A"/>
                </a:solidFill>
                <a:latin typeface="Segoe UI"/>
              </a:rPr>
              <a:t>Missing manufacturing date renders commodity liable for First Offence Notice (₹25,000 compounding penalty).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80560" y="1051560"/>
            <a:ext cx="725393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663440" y="1188720"/>
            <a:ext cx="6888175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1234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Consolas"/>
              </a:rPr>
              <a:t>RULE ID        MANDATORY STATUTORY DECLARATION         OBSERVED VALUE              STATUS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0" y="1645920"/>
            <a:ext cx="688817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0" y="1719072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LM-001       Name &amp; Description of Commodity        Annapurna Pure Wheat Atta      </a:t>
            </a:r>
            <a:r>
              <a:rPr sz="950" b="1">
                <a:solidFill>
                  <a:srgbClr val="10B981"/>
                </a:solidFill>
                <a:latin typeface="Segoe UI"/>
              </a:rPr>
              <a:t>✓ PASS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63440" y="2212848"/>
            <a:ext cx="688817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2286000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LM-002       Net Quantity &amp; Units Declaration       5 kg (Metric Units Compliant)  </a:t>
            </a:r>
            <a:r>
              <a:rPr sz="950" b="1">
                <a:solidFill>
                  <a:srgbClr val="10B981"/>
                </a:solidFill>
                <a:latin typeface="Segoe UI"/>
              </a:rPr>
              <a:t>✓ PASS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63440" y="2779776"/>
            <a:ext cx="688817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2852928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LM-003       Maximum Retail Price (MRP incl. taxes) Rs. 240.00 (Inclusive of all taxes) </a:t>
            </a:r>
            <a:r>
              <a:rPr sz="950" b="1">
                <a:solidFill>
                  <a:srgbClr val="10B981"/>
                </a:solidFill>
                <a:latin typeface="Segoe UI"/>
              </a:rPr>
              <a:t>✓ PASS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63440" y="3346704"/>
            <a:ext cx="688817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3419856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LM-004       Manufacturer &amp; Packer Address          Hind Consumer Pvt Ltd, Mumbai  </a:t>
            </a:r>
            <a:r>
              <a:rPr sz="950" b="1">
                <a:solidFill>
                  <a:srgbClr val="10B981"/>
                </a:solidFill>
                <a:latin typeface="Segoe UI"/>
              </a:rPr>
              <a:t>✓ PASS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663440" y="3913632"/>
            <a:ext cx="6888175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0" y="3986784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LM-005       Month &amp; Year of Manufacture            Missing specific calendar date </a:t>
            </a:r>
            <a:r>
              <a:rPr sz="950" b="1">
                <a:solidFill>
                  <a:srgbClr val="EF4444"/>
                </a:solidFill>
                <a:latin typeface="Segoe UI"/>
              </a:rPr>
              <a:t>✕ FAIL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63440" y="4480560"/>
            <a:ext cx="688817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0" y="4553712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FSSAI-01     14-Digit FSSAI License Number          10019082000142 (Format valid)  </a:t>
            </a:r>
            <a:r>
              <a:rPr sz="950" b="1">
                <a:solidFill>
                  <a:srgbClr val="10B981"/>
                </a:solidFill>
                <a:latin typeface="Segoe UI"/>
              </a:rPr>
              <a:t>✓ PASS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63440" y="5047488"/>
            <a:ext cx="688817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5120640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FSSAI-02     Vegetarian / Non-Vegetarian Logo       Green square with green dot found </a:t>
            </a:r>
            <a:r>
              <a:rPr sz="950" b="1">
                <a:solidFill>
                  <a:srgbClr val="10B981"/>
                </a:solidFill>
                <a:latin typeface="Segoe UI"/>
              </a:rPr>
              <a:t>✓ PASS</a:t>
            </a:r>
          </a:p>
        </p:txBody>
      </p:sp>
      <p:sp>
        <p:nvSpPr>
          <p:cNvPr id="62" name="Rounded Rectangle 61">
            <a:hlinkClick action="ppaction://hlinksldjump" r:id="rId14"/>
          </p:cNvPr>
          <p:cNvSpPr/>
          <p:nvPr/>
        </p:nvSpPr>
        <p:spPr>
          <a:xfrm>
            <a:off x="8961120" y="5806440"/>
            <a:ext cx="2773375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📑 View Violation &amp; Complaint Report</a:t>
            </a:r>
          </a:p>
        </p:txBody>
      </p:sp>
    </p:spTree>
  </p:cSld>
  <p:clrMapOvr>
    <a:masterClrMapping/>
  </p:clrMapOvr>
  <p:transition spd="med" advClick="1"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4F46E5"/>
                </a:solidFill>
                <a:latin typeface="Segoe UI"/>
              </a:rPr>
              <a:t>CompliScan </a:t>
            </a:r>
            <a:r>
              <a:rPr b="1" sz="1300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Enforcement Report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27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SIH 2026 • SIH26034 • Ministry of Consumer Affairs • UCET VBU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557784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590702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2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23620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656539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689457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722376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6</a:t>
            </a:r>
          </a:p>
        </p:txBody>
      </p:sp>
      <p:sp>
        <p:nvSpPr>
          <p:cNvPr id="25" name="Rounded Rectangle 24">
            <a:hlinkClick action="ppaction://hlinksldjump" r:id="rId14"/>
          </p:cNvPr>
          <p:cNvSpPr/>
          <p:nvPr/>
        </p:nvSpPr>
        <p:spPr>
          <a:xfrm>
            <a:off x="7552944" y="6327648"/>
            <a:ext cx="292608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788212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8</a:t>
            </a:r>
          </a:p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821131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9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854049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10</a:t>
            </a:r>
          </a:p>
        </p:txBody>
      </p:sp>
      <p:sp>
        <p:nvSpPr>
          <p:cNvPr id="29" name="Rounded Rectangle 28">
            <a:hlinkClick action="ppaction://hlinksldjump" r:id="rId16"/>
          </p:cNvPr>
          <p:cNvSpPr/>
          <p:nvPr/>
        </p:nvSpPr>
        <p:spPr>
          <a:xfrm>
            <a:off x="886968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11</a:t>
            </a:r>
          </a:p>
        </p:txBody>
      </p:sp>
      <p:sp>
        <p:nvSpPr>
          <p:cNvPr id="30" name="Rounded Rectangle 29">
            <a:hlinkClick action="ppaction://hlinksldjump" r:id="rId8"/>
          </p:cNvPr>
          <p:cNvSpPr/>
          <p:nvPr/>
        </p:nvSpPr>
        <p:spPr>
          <a:xfrm>
            <a:off x="9464040" y="631850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 Slide</a:t>
            </a:r>
          </a:p>
        </p:txBody>
      </p:sp>
      <p:sp>
        <p:nvSpPr>
          <p:cNvPr id="31" name="Rounded Rectangle 30">
            <a:hlinkClick action="ppaction://hlinksldjump" r:id="rId9"/>
          </p:cNvPr>
          <p:cNvSpPr/>
          <p:nvPr/>
        </p:nvSpPr>
        <p:spPr>
          <a:xfrm>
            <a:off x="10561320" y="6318504"/>
            <a:ext cx="1051560" cy="31089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Slide 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0515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1234440"/>
            <a:ext cx="512064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1280160"/>
            <a:ext cx="777240" cy="4389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54480" y="1280160"/>
            <a:ext cx="4114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4F46E5"/>
                </a:solidFill>
                <a:latin typeface="Segoe UI"/>
              </a:rPr>
              <a:t>🏛️ MINISTRY OF CONSUMER AFFAIRS
</a:t>
            </a:r>
            <a:r>
              <a:rPr sz="1100" b="1">
                <a:solidFill>
                  <a:srgbClr val="0F172A"/>
                </a:solidFill>
                <a:latin typeface="Segoe UI"/>
              </a:rPr>
              <a:t>STATUTORY LABELLING INSPECTION DOSSIER
</a:t>
            </a:r>
            <a:r>
              <a:rPr sz="800">
                <a:solidFill>
                  <a:srgbClr val="64748B"/>
                </a:solidFill>
                <a:latin typeface="Segoe UI"/>
              </a:rPr>
              <a:t>Dossier ID: #SIH26-CMP-84920 • Verified by CompliScan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246888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PRODUCT AUDIT SUMMARY:
</a:t>
            </a:r>
            <a:r>
              <a:rPr sz="950">
                <a:solidFill>
                  <a:srgbClr val="64748B"/>
                </a:solidFill>
                <a:latin typeface="Segoe UI"/>
              </a:rPr>
              <a:t>• Product: Annapurna Pure Wheat Atta (5 kg)
• Category: Food Commodities (Legal Metrology Group 1)
• Overall Compliance Score: 82% (Potential Non-Compliance)
</a:t>
            </a:r>
            <a:r>
              <a:rPr sz="1050" b="1">
                <a:solidFill>
                  <a:srgbClr val="EF4444"/>
                </a:solidFill>
                <a:latin typeface="Segoe UI"/>
              </a:rPr>
              <a:t>IDENTIFIED STATUTORY VIOLATION:
</a:t>
            </a:r>
            <a:r>
              <a:rPr sz="950">
                <a:solidFill>
                  <a:srgbClr val="0F172A"/>
                </a:solidFill>
                <a:latin typeface="Segoe UI"/>
              </a:rPr>
              <a:t>• Violation: Missing Manufacturing Date on Principal Display Panel.
• Legal Citation: Rule 6(1)(d) of Legal Metrology (PC) Rules 2011.
• Liability: Section 36(1) of Legal Metrology Act 2009 (₹25,000 Notice).
• Recommended Action: Issue Statutory Show-Cause Notice to Manufacturer.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1051560"/>
            <a:ext cx="551657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123444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4F46E5"/>
                </a:solidFill>
                <a:latin typeface="Segoe UI"/>
              </a:rPr>
              <a:t>🚨 1-Click Regulatory Enforcement Dispatch Workflow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1874519"/>
            <a:ext cx="5120640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196595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1. Evidence Auto-Packaging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Original packaging image, OCR bounding boxes, and timestamped audit logs are hashed for court admissibility.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063239"/>
            <a:ext cx="5120640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15467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2. Multi-Agency Forwarding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Direct API integration forwards dossier to National Consumer Helpline (1915), INGRAM, and State Metrology Controllers.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251959"/>
            <a:ext cx="5120640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434339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3. Show-Cause Auto-Drafting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Generates ready-to-sign Legal Notice citing Section 36(1) for enforcement officer dispatch.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400800" y="5440680"/>
            <a:ext cx="512064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🚀 Submit Complaint to Enforcement Portal</a:t>
            </a:r>
          </a:p>
        </p:txBody>
      </p:sp>
    </p:spTree>
  </p:cSld>
  <p:clrMapOvr>
    <a:masterClrMapping/>
  </p:clrMapOvr>
  <p:transition spd="med" advClick="1">
    <p:push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4F46E5"/>
                </a:solidFill>
                <a:latin typeface="Segoe UI"/>
              </a:rPr>
              <a:t>CompliScan </a:t>
            </a:r>
            <a:r>
              <a:rPr b="1" sz="1300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Ministry Admin Command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27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SIH 2026 • SIH26034 • Ministry of Consumer Affairs • UCET VBU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557784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590702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2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23620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656539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689457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722376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6</a:t>
            </a:r>
          </a:p>
        </p:txBody>
      </p:sp>
      <p:sp>
        <p:nvSpPr>
          <p:cNvPr id="25" name="Rounded Rectangle 24">
            <a:hlinkClick action="ppaction://hlinksldjump" r:id="rId14"/>
          </p:cNvPr>
          <p:cNvSpPr/>
          <p:nvPr/>
        </p:nvSpPr>
        <p:spPr>
          <a:xfrm>
            <a:off x="755294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7882128" y="6327648"/>
            <a:ext cx="292608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821131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9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854049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10</a:t>
            </a:r>
          </a:p>
        </p:txBody>
      </p:sp>
      <p:sp>
        <p:nvSpPr>
          <p:cNvPr id="29" name="Rounded Rectangle 28">
            <a:hlinkClick action="ppaction://hlinksldjump" r:id="rId16"/>
          </p:cNvPr>
          <p:cNvSpPr/>
          <p:nvPr/>
        </p:nvSpPr>
        <p:spPr>
          <a:xfrm>
            <a:off x="886968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11</a:t>
            </a:r>
          </a:p>
        </p:txBody>
      </p:sp>
      <p:sp>
        <p:nvSpPr>
          <p:cNvPr id="30" name="Rounded Rectangle 29">
            <a:hlinkClick action="ppaction://hlinksldjump" r:id="rId14"/>
          </p:cNvPr>
          <p:cNvSpPr/>
          <p:nvPr/>
        </p:nvSpPr>
        <p:spPr>
          <a:xfrm>
            <a:off x="9464040" y="631850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 Slide</a:t>
            </a:r>
          </a:p>
        </p:txBody>
      </p:sp>
      <p:sp>
        <p:nvSpPr>
          <p:cNvPr id="31" name="Rounded Rectangle 30">
            <a:hlinkClick action="ppaction://hlinksldjump" r:id="rId15"/>
          </p:cNvPr>
          <p:cNvSpPr/>
          <p:nvPr/>
        </p:nvSpPr>
        <p:spPr>
          <a:xfrm>
            <a:off x="10561320" y="6318504"/>
            <a:ext cx="1051560" cy="31089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Slide 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051560"/>
            <a:ext cx="2633472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10972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4F46E5"/>
                </a:solidFill>
                <a:latin typeface="Segoe UI"/>
              </a:rPr>
              <a:t>1,248
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Total Audits Filed (+14% MoM)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1051560"/>
            <a:ext cx="2633472" cy="10515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10972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F4444"/>
                </a:solidFill>
                <a:latin typeface="Segoe UI"/>
              </a:rPr>
              <a:t>241
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Critical Violations (Seizure Alerts)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051560"/>
            <a:ext cx="2633472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10972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59E0B"/>
                </a:solidFill>
                <a:latin typeface="Segoe UI"/>
              </a:rPr>
              <a:t>89
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Notices Dispatched (Sec 36 LM Act)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1051560"/>
            <a:ext cx="2633472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10972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0B981"/>
                </a:solidFill>
                <a:latin typeface="Segoe UI"/>
              </a:rPr>
              <a:t>78.4%
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National Avg Compliance (Target &gt;90%)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240280"/>
            <a:ext cx="5440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2331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📊 Category-wise Violation Distribution (Live Telemetry)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2880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Packaged Food &amp; Snacks — 42% Violations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3172968"/>
            <a:ext cx="5029200" cy="182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" y="3172968"/>
            <a:ext cx="4114800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566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Edible Oils &amp; Fats — 28% Violations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3858768"/>
            <a:ext cx="5029200" cy="182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" y="3858768"/>
            <a:ext cx="2834640" cy="182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2519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Cosmetics &amp; Personal Care — 18% Violations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544568"/>
            <a:ext cx="5029200" cy="182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40080" y="4544568"/>
            <a:ext cx="1828800" cy="1828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9377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Household Cleaning Agents — 12% Violations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5230368"/>
            <a:ext cx="5029200" cy="182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40080" y="5230368"/>
            <a:ext cx="1280160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63640" y="2240280"/>
            <a:ext cx="5440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2331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📑 Live Enforcement Registry (Recent Notices)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46520" y="2880360"/>
            <a:ext cx="50749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2953512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#CMP-8492 | Annapurna Atta
</a:t>
            </a:r>
            <a:r>
              <a:rPr sz="800">
                <a:solidFill>
                  <a:srgbClr val="64748B"/>
                </a:solidFill>
                <a:latin typeface="Segoe UI"/>
              </a:rPr>
              <a:t>Issue: Missing Mfg Date  •  Action: </a:t>
            </a:r>
            <a:r>
              <a:rPr sz="800" b="1">
                <a:solidFill>
                  <a:srgbClr val="EF4444"/>
                </a:solidFill>
                <a:latin typeface="Segoe UI"/>
              </a:rPr>
              <a:t>High (Notice)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46520" y="3593592"/>
            <a:ext cx="50749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3666744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#CMP-8488 | Kisan Sunflower Oil
</a:t>
            </a:r>
            <a:r>
              <a:rPr sz="800">
                <a:solidFill>
                  <a:srgbClr val="64748B"/>
                </a:solidFill>
                <a:latin typeface="Segoe UI"/>
              </a:rPr>
              <a:t>Issue: No Net Wt @ 30°C  •  Action: </a:t>
            </a:r>
            <a:r>
              <a:rPr sz="800" b="1">
                <a:solidFill>
                  <a:srgbClr val="EF4444"/>
                </a:solidFill>
                <a:latin typeface="Segoe UI"/>
              </a:rPr>
              <a:t>High (Notice)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46520" y="4306824"/>
            <a:ext cx="50749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4379976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#CMP-8479 | Glow Herbal Cream
</a:t>
            </a:r>
            <a:r>
              <a:rPr sz="800">
                <a:solidFill>
                  <a:srgbClr val="64748B"/>
                </a:solidFill>
                <a:latin typeface="Segoe UI"/>
              </a:rPr>
              <a:t>Issue: Missing CDSCO Lic  •  Action: </a:t>
            </a:r>
            <a:r>
              <a:rPr sz="800" b="1">
                <a:solidFill>
                  <a:srgbClr val="F59E0B"/>
                </a:solidFill>
                <a:latin typeface="Segoe UI"/>
              </a:rPr>
              <a:t>Review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46520" y="5020056"/>
            <a:ext cx="50749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37960" y="509320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#CMP-8462 | Fresh Choco Cookies
</a:t>
            </a:r>
            <a:r>
              <a:rPr sz="800">
                <a:solidFill>
                  <a:srgbClr val="64748B"/>
                </a:solidFill>
                <a:latin typeface="Segoe UI"/>
              </a:rPr>
              <a:t>Issue: Compliant Label  •  Action: </a:t>
            </a:r>
            <a:r>
              <a:rPr sz="800" b="1">
                <a:solidFill>
                  <a:srgbClr val="10B981"/>
                </a:solidFill>
                <a:latin typeface="Segoe UI"/>
              </a:rPr>
              <a:t>Pass</a:t>
            </a:r>
          </a:p>
        </p:txBody>
      </p:sp>
      <p:sp>
        <p:nvSpPr>
          <p:cNvPr id="64" name="Rounded Rectangle 63">
            <a:hlinkClick action="ppaction://hlinksldjump" r:id="rId15"/>
          </p:cNvPr>
          <p:cNvSpPr/>
          <p:nvPr/>
        </p:nvSpPr>
        <p:spPr>
          <a:xfrm>
            <a:off x="8961120" y="5806440"/>
            <a:ext cx="2773375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🚀 Impact &amp; Future Roadmap ➔</a:t>
            </a:r>
          </a:p>
        </p:txBody>
      </p:sp>
    </p:spTree>
  </p:cSld>
  <p:clrMapOvr>
    <a:masterClrMapping/>
  </p:clrMapOvr>
  <p:transition spd="med" advClick="1">
    <p:push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4F46E5"/>
                </a:solidFill>
                <a:latin typeface="Segoe UI"/>
              </a:rPr>
              <a:t>CompliScan </a:t>
            </a:r>
            <a:r>
              <a:rPr b="1" sz="1300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Scalability &amp; Roadmap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27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SIH 2026 • SIH26034 • Ministry of Consumer Affairs • UCET VBU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557784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590702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2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23620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656539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689457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722376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6</a:t>
            </a:r>
          </a:p>
        </p:txBody>
      </p:sp>
      <p:sp>
        <p:nvSpPr>
          <p:cNvPr id="25" name="Rounded Rectangle 24">
            <a:hlinkClick action="ppaction://hlinksldjump" r:id="rId14"/>
          </p:cNvPr>
          <p:cNvSpPr/>
          <p:nvPr/>
        </p:nvSpPr>
        <p:spPr>
          <a:xfrm>
            <a:off x="755294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788212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8</a:t>
            </a:r>
          </a:p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8211312" y="6327648"/>
            <a:ext cx="292608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854049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10</a:t>
            </a:r>
          </a:p>
        </p:txBody>
      </p:sp>
      <p:sp>
        <p:nvSpPr>
          <p:cNvPr id="29" name="Rounded Rectangle 28">
            <a:hlinkClick action="ppaction://hlinksldjump" r:id="rId16"/>
          </p:cNvPr>
          <p:cNvSpPr/>
          <p:nvPr/>
        </p:nvSpPr>
        <p:spPr>
          <a:xfrm>
            <a:off x="886968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11</a:t>
            </a:r>
          </a:p>
        </p:txBody>
      </p:sp>
      <p:sp>
        <p:nvSpPr>
          <p:cNvPr id="30" name="Rounded Rectangle 29">
            <a:hlinkClick action="ppaction://hlinksldjump" r:id="rId9"/>
          </p:cNvPr>
          <p:cNvSpPr/>
          <p:nvPr/>
        </p:nvSpPr>
        <p:spPr>
          <a:xfrm>
            <a:off x="9464040" y="631850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 Slide</a:t>
            </a:r>
          </a:p>
        </p:txBody>
      </p:sp>
      <p:sp>
        <p:nvSpPr>
          <p:cNvPr id="31" name="Rounded Rectangle 30">
            <a:hlinkClick action="ppaction://hlinksldjump" r:id="rId10"/>
          </p:cNvPr>
          <p:cNvSpPr/>
          <p:nvPr/>
        </p:nvSpPr>
        <p:spPr>
          <a:xfrm>
            <a:off x="10561320" y="6318504"/>
            <a:ext cx="1051560" cy="31089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Slide 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051560"/>
            <a:ext cx="5440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1234440"/>
            <a:ext cx="4892040" cy="457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1280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0B981"/>
                </a:solidFill>
                <a:latin typeface="Segoe UI"/>
              </a:rPr>
              <a:t>✅ CURRENT MVP IMPACT (Delivered for SIH 2026)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1874519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1947671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Segoe UI"/>
              </a:rPr>
              <a:t>⚡ Sub-Second Label Audits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Reduces packaging inspection time from 20 minutes to under 3 seconds using dual OCR engines.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2862071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2935223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Segoe UI"/>
              </a:rPr>
              <a:t>🛡️ Zero-Hallucination Legal Integrity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Deterministic rule engine guarantees objective legal compliance without AI guesswork.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49623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22775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Segoe UI"/>
              </a:rPr>
              <a:t>📑 Instant Evidentiary Dossiers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Generates court-admissible PDF inspection certificates with Section 36 penalty estimations.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837175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910327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Segoe UI"/>
              </a:rPr>
              <a:t>🎙️ Multilingual Accessibility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Real-time Hindi &amp; English voice audio readout for non-English literate consumers.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1051560"/>
            <a:ext cx="5440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37960" y="1234440"/>
            <a:ext cx="489204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1280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4F46E5"/>
                </a:solidFill>
                <a:latin typeface="Segoe UI"/>
              </a:rPr>
              <a:t>🔮 FUTURE SCOPE &amp; NATIONAL SCALING ROADMAP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1874519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1947671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📱 Native Mobile App &amp; Barcode Scanner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Direct camera integration with GS1 DataBar and 14-digit FSSAI FoSCoS live database sync.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37960" y="2862071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2935223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🌐 22 Regional Indian Languages OCR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Expanding label parsing support to Tamil, Bengali, Telugu, Marathi, and Gujarati.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37960" y="3849623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3922775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🏛️ Automated Gazette Rule Synchronizer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Web-scraper that auto-updates regulatory rule DB whenever Ministry issues new Gazette notifications.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37960" y="4837175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4910327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📶 Edge AI Offline Inspector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Enabling offline label inspection for field enforcement officers in remote rural markets.</a:t>
            </a:r>
          </a:p>
        </p:txBody>
      </p:sp>
      <p:sp>
        <p:nvSpPr>
          <p:cNvPr id="54" name="Rounded Rectangle 53">
            <a:hlinkClick action="ppaction://hlinksldjump" r:id="rId10"/>
          </p:cNvPr>
          <p:cNvSpPr/>
          <p:nvPr/>
        </p:nvSpPr>
        <p:spPr>
          <a:xfrm>
            <a:off x="8961120" y="5806440"/>
            <a:ext cx="2773375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👥 Meet the Development Team ➔</a:t>
            </a:r>
          </a:p>
        </p:txBody>
      </p:sp>
    </p:spTree>
  </p:cSld>
  <p:clrMapOvr>
    <a:masterClrMapping/>
  </p:clrMapOvr>
  <p:transition spd="med" advClick="1">
    <p:push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4F46E5"/>
                </a:solidFill>
                <a:latin typeface="Segoe UI"/>
              </a:rPr>
              <a:t>CompliScan </a:t>
            </a:r>
            <a:r>
              <a:rPr b="1" sz="1300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UCET Hazaribagh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27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SIH 2026 • SIH26034 • Ministry of Consumer Affairs • UCET VBU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557784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590702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2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23620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656539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689457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722376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6</a:t>
            </a:r>
          </a:p>
        </p:txBody>
      </p:sp>
      <p:sp>
        <p:nvSpPr>
          <p:cNvPr id="25" name="Rounded Rectangle 24">
            <a:hlinkClick action="ppaction://hlinksldjump" r:id="rId14"/>
          </p:cNvPr>
          <p:cNvSpPr/>
          <p:nvPr/>
        </p:nvSpPr>
        <p:spPr>
          <a:xfrm>
            <a:off x="755294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788212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8</a:t>
            </a:r>
          </a:p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821131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9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8540496" y="6327648"/>
            <a:ext cx="292608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29" name="Rounded Rectangle 28">
            <a:hlinkClick action="ppaction://hlinksldjump" r:id="rId16"/>
          </p:cNvPr>
          <p:cNvSpPr/>
          <p:nvPr/>
        </p:nvSpPr>
        <p:spPr>
          <a:xfrm>
            <a:off x="886968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11</a:t>
            </a:r>
          </a:p>
        </p:txBody>
      </p:sp>
      <p:sp>
        <p:nvSpPr>
          <p:cNvPr id="30" name="Rounded Rectangle 29">
            <a:hlinkClick action="ppaction://hlinksldjump" r:id="rId15"/>
          </p:cNvPr>
          <p:cNvSpPr/>
          <p:nvPr/>
        </p:nvSpPr>
        <p:spPr>
          <a:xfrm>
            <a:off x="9464040" y="631850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 Slide</a:t>
            </a:r>
          </a:p>
        </p:txBody>
      </p:sp>
      <p:sp>
        <p:nvSpPr>
          <p:cNvPr id="31" name="Rounded Rectangle 30">
            <a:hlinkClick action="ppaction://hlinksldjump" r:id="rId16"/>
          </p:cNvPr>
          <p:cNvSpPr/>
          <p:nvPr/>
        </p:nvSpPr>
        <p:spPr>
          <a:xfrm>
            <a:off x="10561320" y="6318504"/>
            <a:ext cx="1051560" cy="31089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Slide 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051560"/>
            <a:ext cx="11277295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ucet-hazaribagh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" y="1097280"/>
            <a:ext cx="1097280" cy="5486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874519" y="10972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Segoe UI"/>
              </a:rPr>
              <a:t>🏛️ University College of Engineering &amp; Technology (UCET), VBU, Hazaribagh
</a:t>
            </a:r>
            <a:r>
              <a:rPr sz="900">
                <a:solidFill>
                  <a:srgbClr val="64748B"/>
                </a:solidFill>
                <a:latin typeface="Segoe UI"/>
              </a:rPr>
              <a:t>Smart India Hackathon 2026 • Problem Statement ID: SIH26034 • Ministry of Consumer Affairs, Food &amp; Public Distribution</a:t>
            </a:r>
          </a:p>
        </p:txBody>
      </p:sp>
      <p:pic>
        <p:nvPicPr>
          <p:cNvPr id="35" name="Picture 34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69880" y="1097280"/>
            <a:ext cx="1005840" cy="54864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457200" y="1874519"/>
            <a:ext cx="3687775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hubham-kuma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" y="2057399"/>
            <a:ext cx="822960" cy="9601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54480" y="201167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Shubham Kumar
</a:t>
            </a:r>
          </a:p>
          <a:p>
            <a:r>
              <a:rPr sz="850" b="1">
                <a:solidFill>
                  <a:srgbClr val="4F46E5"/>
                </a:solidFill>
                <a:latin typeface="Segoe UI"/>
              </a:rPr>
              <a:t>Team Lead &amp; Full-Stack / AI Architect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B.Tech Information Technology
Session: 2024–27 (D2D)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1874519"/>
            <a:ext cx="368777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34840" y="2057399"/>
            <a:ext cx="8229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2194559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M2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201167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Team Member 2
</a:t>
            </a:r>
          </a:p>
          <a:p>
            <a:r>
              <a:rPr sz="850" b="1">
                <a:solidFill>
                  <a:srgbClr val="64748B"/>
                </a:solidFill>
                <a:latin typeface="Segoe UI"/>
              </a:rPr>
              <a:t>AI / ML &amp; Computer Vision Specialist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B.Tech Engineering
Session: 2024–27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1874519"/>
            <a:ext cx="368777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29600" y="2057399"/>
            <a:ext cx="8229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2194559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M3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201167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Team Member 3
</a:t>
            </a:r>
          </a:p>
          <a:p>
            <a:r>
              <a:rPr sz="850" b="1">
                <a:solidFill>
                  <a:srgbClr val="64748B"/>
                </a:solidFill>
                <a:latin typeface="Segoe UI"/>
              </a:rPr>
              <a:t>Backend &amp; Regulatory Rules Lead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B.Tech Engineering
Session: 2024–27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977639"/>
            <a:ext cx="368777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" y="4160519"/>
            <a:ext cx="8229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297679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M4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" y="411479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Team Member 4
</a:t>
            </a:r>
          </a:p>
          <a:p>
            <a:r>
              <a:rPr sz="850" b="1">
                <a:solidFill>
                  <a:srgbClr val="64748B"/>
                </a:solidFill>
                <a:latin typeface="Segoe UI"/>
              </a:rPr>
              <a:t>Frontend &amp; UI/UX Specialist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B.Tech Engineering
Session: 2024–27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51960" y="3977639"/>
            <a:ext cx="368777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434840" y="4160519"/>
            <a:ext cx="8229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34840" y="4297679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M5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9240" y="411479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Team Member 5
</a:t>
            </a:r>
          </a:p>
          <a:p>
            <a:r>
              <a:rPr sz="850" b="1">
                <a:solidFill>
                  <a:srgbClr val="64748B"/>
                </a:solidFill>
                <a:latin typeface="Segoe UI"/>
              </a:rPr>
              <a:t>Legal Research &amp; Verification Analyst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B.Tech Engineering
Session: 2024–27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20" y="3977639"/>
            <a:ext cx="368777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29600" y="4160519"/>
            <a:ext cx="8229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4297679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M6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411479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Team Member 6
</a:t>
            </a:r>
          </a:p>
          <a:p>
            <a:r>
              <a:rPr sz="850" b="1">
                <a:solidFill>
                  <a:srgbClr val="64748B"/>
                </a:solidFill>
                <a:latin typeface="Segoe UI"/>
              </a:rPr>
              <a:t>QA, Testing &amp; Cloud DevOps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B.Tech Engineering
Session: 2024–27</a:t>
            </a:r>
          </a:p>
        </p:txBody>
      </p:sp>
      <p:sp>
        <p:nvSpPr>
          <p:cNvPr id="59" name="Rounded Rectangle 58">
            <a:hlinkClick action="ppaction://hlinksldjump" r:id="rId16"/>
          </p:cNvPr>
          <p:cNvSpPr/>
          <p:nvPr/>
        </p:nvSpPr>
        <p:spPr>
          <a:xfrm>
            <a:off x="8961120" y="5897880"/>
            <a:ext cx="2773375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🎯 Summary &amp; Product Hub ➔</a:t>
            </a:r>
          </a:p>
        </p:txBody>
      </p:sp>
    </p:spTree>
  </p:cSld>
  <p:clrMapOvr>
    <a:masterClrMapping/>
  </p:clrMapOvr>
  <p:transition spd="med" advClick="1">
    <p:push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4F46E5"/>
                </a:solidFill>
                <a:latin typeface="Segoe UI"/>
              </a:rPr>
              <a:t>CompliScan </a:t>
            </a:r>
            <a:r>
              <a:rPr b="1" sz="1300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Thank You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27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SIH 2026 • SIH26034 • Ministry of Consumer Affairs • UCET VBU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557784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590702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2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23620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656539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689457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7223760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6</a:t>
            </a:r>
          </a:p>
        </p:txBody>
      </p:sp>
      <p:sp>
        <p:nvSpPr>
          <p:cNvPr id="25" name="Rounded Rectangle 24">
            <a:hlinkClick action="ppaction://hlinksldjump" r:id="rId14"/>
          </p:cNvPr>
          <p:cNvSpPr/>
          <p:nvPr/>
        </p:nvSpPr>
        <p:spPr>
          <a:xfrm>
            <a:off x="7552944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7882128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8</a:t>
            </a:r>
          </a:p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8211312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9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8540496" y="6327648"/>
            <a:ext cx="292608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10</a:t>
            </a:r>
          </a:p>
        </p:txBody>
      </p:sp>
      <p:sp>
        <p:nvSpPr>
          <p:cNvPr id="29" name="Rounded Rectangle 28">
            <a:hlinkClick action="ppaction://hlinksldjump" r:id="rId16"/>
          </p:cNvPr>
          <p:cNvSpPr/>
          <p:nvPr/>
        </p:nvSpPr>
        <p:spPr>
          <a:xfrm>
            <a:off x="8869680" y="6327648"/>
            <a:ext cx="292608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9464040" y="6318504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 Slide</a:t>
            </a:r>
          </a:p>
        </p:txBody>
      </p:sp>
      <p:sp>
        <p:nvSpPr>
          <p:cNvPr id="31" name="Rounded Rectangle 30">
            <a:hlinkClick action="ppaction://hlinksldjump" r:id="rId16"/>
          </p:cNvPr>
          <p:cNvSpPr/>
          <p:nvPr/>
        </p:nvSpPr>
        <p:spPr>
          <a:xfrm>
            <a:off x="10561320" y="6318504"/>
            <a:ext cx="1051560" cy="31089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Slide 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1143000"/>
            <a:ext cx="944849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894990" y="1371600"/>
            <a:ext cx="640080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1800" y="1408176"/>
            <a:ext cx="777240" cy="420624"/>
          </a:xfrm>
          <a:prstGeom prst="rect">
            <a:avLst/>
          </a:prstGeom>
        </p:spPr>
      </p:pic>
      <p:pic>
        <p:nvPicPr>
          <p:cNvPr id="35" name="Picture 34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2191" y="1408176"/>
            <a:ext cx="777240" cy="4206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663440" y="141732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10B981"/>
                </a:solidFill>
                <a:latin typeface="Segoe UI"/>
              </a:rPr>
              <a:t>SMART INDIA HACKATHON 2026 • FINAL PRESENTATION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Problem Statement: SIH26034 • Ministry of Consumer Affairs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201168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CompliScan AI
</a:t>
            </a:r>
            <a:r>
              <a:rPr sz="1500" b="1">
                <a:solidFill>
                  <a:srgbClr val="4F46E5"/>
                </a:solidFill>
                <a:latin typeface="Segoe UI"/>
              </a:rPr>
              <a:t>Making Product Label Compliance Smarter, Faster &amp; Consumer-First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315468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Segoe UI"/>
              </a:rPr>
              <a:t>Empowering 1.4B Indian Citizens • Accelerating Regulatory Enforcement • Eradicating Packaging Fraud</a:t>
            </a:r>
          </a:p>
        </p:txBody>
      </p:sp>
      <p:sp>
        <p:nvSpPr>
          <p:cNvPr id="39" name="Rounded Rectangle 38">
            <a:hlinkClick action="ppaction://hlinksldjump" r:id="rId4"/>
          </p:cNvPr>
          <p:cNvSpPr/>
          <p:nvPr/>
        </p:nvSpPr>
        <p:spPr>
          <a:xfrm>
            <a:off x="1737360" y="3977639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4F46E5"/>
                </a:solidFill>
                <a:latin typeface="Segoe UI"/>
              </a:rPr>
              <a:t>🏠 Back to Home</a:t>
            </a:r>
          </a:p>
        </p:txBody>
      </p:sp>
      <p:sp>
        <p:nvSpPr>
          <p:cNvPr id="40" name="Rounded Rectangle 39">
            <a:hlinkClick action="ppaction://hlinksldjump" r:id="rId6"/>
          </p:cNvPr>
          <p:cNvSpPr/>
          <p:nvPr/>
        </p:nvSpPr>
        <p:spPr>
          <a:xfrm>
            <a:off x="3520440" y="3977639"/>
            <a:ext cx="1645920" cy="5486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🔍 Live Scanner Demo</a:t>
            </a:r>
          </a:p>
        </p:txBody>
      </p:sp>
      <p:sp>
        <p:nvSpPr>
          <p:cNvPr id="41" name="Rounded Rectangle 40">
            <a:hlinkClick action="ppaction://hlinksldjump" r:id="rId7"/>
          </p:cNvPr>
          <p:cNvSpPr/>
          <p:nvPr/>
        </p:nvSpPr>
        <p:spPr>
          <a:xfrm>
            <a:off x="5303520" y="3977639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🏛️ Technical Architecture</a:t>
            </a:r>
          </a:p>
        </p:txBody>
      </p:sp>
      <p:sp>
        <p:nvSpPr>
          <p:cNvPr id="42" name="Rounded Rectangle 41">
            <a:hlinkClick action="ppaction://hlinksldjump" r:id="rId8"/>
          </p:cNvPr>
          <p:cNvSpPr/>
          <p:nvPr/>
        </p:nvSpPr>
        <p:spPr>
          <a:xfrm>
            <a:off x="7086600" y="3977639"/>
            <a:ext cx="164592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📊 Compliance Dashboard</a:t>
            </a:r>
          </a:p>
        </p:txBody>
      </p:sp>
      <p:sp>
        <p:nvSpPr>
          <p:cNvPr id="43" name="Rounded Rectangle 42">
            <a:hlinkClick action="ppaction://hlinksldjump" r:id="rId9"/>
          </p:cNvPr>
          <p:cNvSpPr/>
          <p:nvPr/>
        </p:nvSpPr>
        <p:spPr>
          <a:xfrm>
            <a:off x="8869680" y="3977639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EF4444"/>
                </a:solidFill>
                <a:latin typeface="Segoe UI"/>
              </a:rPr>
              <a:t>⚖️ Enforcement Portal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480060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4F46E5"/>
                </a:solidFill>
                <a:latin typeface="Segoe UI"/>
              </a:rPr>
              <a:t>University College of Engineering &amp; Technology (UCET), VBU, Hazaribagh • Problem ID: SIH26034
Thank You Judges &amp; Mentors for your valuable time!</a:t>
            </a:r>
          </a:p>
        </p:txBody>
      </p:sp>
    </p:spTree>
  </p:cSld>
  <p:clrMapOvr>
    <a:masterClrMapping/>
  </p:clrMapOvr>
  <p:transition spd="med" advClick="1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